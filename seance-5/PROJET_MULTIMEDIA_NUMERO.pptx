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54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rgbClr val="1A1A19"/>
                </a:solidFill>
                <a:latin typeface="+mn-lt"/>
                <a:ea typeface="+mn-ea"/>
                <a:cs typeface="+mn-cs"/>
              </a:defRPr>
            </a:pPr>
            <a:r>
              <a:rPr lang="fr-FR"/>
              <a:t>Candidatures par place selon la filière — Île-de-France, 2025</a:t>
            </a:r>
          </a:p>
        </c:rich>
      </c:tx>
      <c:overlay val="0"/>
      <c:spPr>
        <a:noFill/>
        <a:ln>
          <a:noFill/>
        </a:ln>
        <a:effectLst/>
      </c:spPr>
      <c:txPr>
        <a:bodyPr rot="0" spcFirstLastPara="1" vertOverflow="ellipsis" vert="horz" wrap="square" anchor="ctr" anchorCtr="1"/>
        <a:lstStyle/>
        <a:p>
          <a:pPr>
            <a:defRPr sz="1400" b="1" i="0" u="none" strike="noStrike" kern="1200" spc="0" baseline="0">
              <a:solidFill>
                <a:srgbClr val="1A1A19"/>
              </a:solidFill>
              <a:latin typeface="+mn-lt"/>
              <a:ea typeface="+mn-ea"/>
              <a:cs typeface="+mn-cs"/>
            </a:defRPr>
          </a:pPr>
          <a:endParaRPr lang="fr-FR"/>
        </a:p>
      </c:txPr>
    </c:title>
    <c:autoTitleDeleted val="0"/>
    <c:plotArea>
      <c:layout/>
      <c:barChart>
        <c:barDir val="bar"/>
        <c:grouping val="clustered"/>
        <c:varyColors val="0"/>
        <c:ser>
          <c:idx val="0"/>
          <c:order val="0"/>
          <c:tx>
            <c:strRef>
              <c:f>Feuil1!$B$1</c:f>
              <c:strCache>
                <c:ptCount val="1"/>
                <c:pt idx="0">
                  <c:v>Candidatures par place</c:v>
                </c:pt>
              </c:strCache>
            </c:strRef>
          </c:tx>
          <c:spPr>
            <a:solidFill>
              <a:srgbClr val="2A78D6"/>
            </a:solidFill>
            <a:ln>
              <a:noFill/>
            </a:ln>
            <a:effectLst/>
          </c:spPr>
          <c:invertIfNegative val="0"/>
          <c:dPt>
            <c:idx val="9"/>
            <c:invertIfNegative val="0"/>
            <c:bubble3D val="0"/>
            <c:spPr>
              <a:solidFill>
                <a:srgbClr val="EB6834"/>
              </a:solidFill>
              <a:ln>
                <a:noFill/>
              </a:ln>
              <a:effectLst/>
            </c:spPr>
            <c:extLst>
              <c:ext xmlns:c16="http://schemas.microsoft.com/office/drawing/2014/chart" uri="{C3380CC4-5D6E-409C-BE32-E72D297353CC}">
                <c16:uniqueId val="{00000003-3B0D-42CE-B0D3-4D2D09142FC8}"/>
              </c:ext>
            </c:extLst>
          </c:dPt>
          <c:dLbls>
            <c:numFmt formatCode="0.0" sourceLinked="0"/>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rgbClr val="1A1A19"/>
                    </a:solidFill>
                    <a:latin typeface="+mn-lt"/>
                    <a:ea typeface="+mn-ea"/>
                    <a:cs typeface="+mn-c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Feuil1!$A$2:$A$12</c:f>
              <c:strCache>
                <c:ptCount val="11"/>
                <c:pt idx="0">
                  <c:v>PASS</c:v>
                </c:pt>
                <c:pt idx="1">
                  <c:v>IFSI</c:v>
                </c:pt>
                <c:pt idx="2">
                  <c:v>BUT</c:v>
                </c:pt>
                <c:pt idx="3">
                  <c:v>Licence L.AS</c:v>
                </c:pt>
                <c:pt idx="4">
                  <c:v>CPGE</c:v>
                </c:pt>
                <c:pt idx="5">
                  <c:v>BTS</c:v>
                </c:pt>
                <c:pt idx="6">
                  <c:v>École d'ingénieur</c:v>
                </c:pt>
                <c:pt idx="7">
                  <c:v>École de commerce</c:v>
                </c:pt>
                <c:pt idx="8">
                  <c:v>Autre formation</c:v>
                </c:pt>
                <c:pt idx="9">
                  <c:v>Licence</c:v>
                </c:pt>
                <c:pt idx="10">
                  <c:v>EFTS</c:v>
                </c:pt>
              </c:strCache>
            </c:strRef>
          </c:cat>
          <c:val>
            <c:numRef>
              <c:f>Feuil1!$B$2:$B$12</c:f>
              <c:numCache>
                <c:formatCode>General</c:formatCode>
                <c:ptCount val="11"/>
                <c:pt idx="0">
                  <c:v>81.137199740315907</c:v>
                </c:pt>
                <c:pt idx="1">
                  <c:v>58.428983648605303</c:v>
                </c:pt>
                <c:pt idx="2">
                  <c:v>40.928538968416198</c:v>
                </c:pt>
                <c:pt idx="3">
                  <c:v>40.752480705622901</c:v>
                </c:pt>
                <c:pt idx="4">
                  <c:v>38.581749590718204</c:v>
                </c:pt>
                <c:pt idx="5">
                  <c:v>28.864576668799302</c:v>
                </c:pt>
                <c:pt idx="6">
                  <c:v>26.353128313891801</c:v>
                </c:pt>
                <c:pt idx="7">
                  <c:v>20.8349073520621</c:v>
                </c:pt>
                <c:pt idx="8">
                  <c:v>20.231296528340799</c:v>
                </c:pt>
                <c:pt idx="9">
                  <c:v>17.542194670316398</c:v>
                </c:pt>
                <c:pt idx="10">
                  <c:v>10.3882743362831</c:v>
                </c:pt>
              </c:numCache>
            </c:numRef>
          </c:val>
          <c:extLst>
            <c:ext xmlns:c16="http://schemas.microsoft.com/office/drawing/2014/chart" uri="{C3380CC4-5D6E-409C-BE32-E72D297353CC}">
              <c16:uniqueId val="{00000000-3B0D-42CE-B0D3-4D2D09142FC8}"/>
            </c:ext>
          </c:extLst>
        </c:ser>
        <c:dLbls>
          <c:showLegendKey val="0"/>
          <c:showVal val="0"/>
          <c:showCatName val="0"/>
          <c:showSerName val="0"/>
          <c:showPercent val="0"/>
          <c:showBubbleSize val="0"/>
        </c:dLbls>
        <c:gapWidth val="75"/>
        <c:axId val="1360002383"/>
        <c:axId val="1323991215"/>
      </c:barChart>
      <c:catAx>
        <c:axId val="1360002383"/>
        <c:scaling>
          <c:orientation val="maxMin"/>
        </c:scaling>
        <c:delete val="0"/>
        <c:axPos val="l"/>
        <c:numFmt formatCode="General" sourceLinked="1"/>
        <c:majorTickMark val="none"/>
        <c:minorTickMark val="none"/>
        <c:tickLblPos val="nextTo"/>
        <c:spPr>
          <a:noFill/>
          <a:ln w="9525" cap="flat" cmpd="sng" algn="ctr">
            <a:solidFill>
              <a:srgbClr val="C3C2B7"/>
            </a:solidFill>
            <a:round/>
          </a:ln>
          <a:effectLst/>
        </c:spPr>
        <c:txPr>
          <a:bodyPr rot="-60000000" spcFirstLastPara="1" vertOverflow="ellipsis" vert="horz" wrap="square" anchor="ctr" anchorCtr="1"/>
          <a:lstStyle/>
          <a:p>
            <a:pPr>
              <a:defRPr sz="1300" b="0" i="0" u="none" strike="noStrike" kern="1200" baseline="0">
                <a:solidFill>
                  <a:srgbClr val="1A1A19"/>
                </a:solidFill>
                <a:latin typeface="+mn-lt"/>
                <a:ea typeface="+mn-ea"/>
                <a:cs typeface="+mn-cs"/>
              </a:defRPr>
            </a:pPr>
            <a:endParaRPr lang="fr-FR"/>
          </a:p>
        </c:txPr>
        <c:crossAx val="1323991215"/>
        <c:crosses val="autoZero"/>
        <c:auto val="1"/>
        <c:lblAlgn val="ctr"/>
        <c:lblOffset val="100"/>
        <c:noMultiLvlLbl val="0"/>
      </c:catAx>
      <c:valAx>
        <c:axId val="1323991215"/>
        <c:scaling>
          <c:orientation val="minMax"/>
        </c:scaling>
        <c:delete val="1"/>
        <c:axPos val="t"/>
        <c:numFmt formatCode="General" sourceLinked="1"/>
        <c:majorTickMark val="none"/>
        <c:minorTickMark val="none"/>
        <c:tickLblPos val="nextTo"/>
        <c:crossAx val="1360002383"/>
        <c:crosses val="autoZero"/>
        <c:crossBetween val="between"/>
      </c:valAx>
      <c:spPr>
        <a:noFill/>
        <a:ln>
          <a:noFill/>
        </a:ln>
        <a:effectLst/>
        <a:extLst>
          <a:ext uri="{909E8E84-426E-40DD-AFC4-6F175D3DCCD1}">
            <a14:hiddenFill xmlns:a14="http://schemas.microsoft.com/office/drawing/2010/main">
              <a:noFill/>
            </a14:hiddenFill>
          </a:ext>
        </a:ex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a:noFill/>
        </a14:hiddenLine>
      </a:ext>
    </a:ex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862CE6-B9E9-4AFA-BF3B-B6587DE538B3}" type="datetimeFigureOut">
              <a:rPr lang="fr-FR" smtClean="0"/>
              <a:t>12/10/2026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46A5D2-B3DD-48C2-BF4B-52DF5390B197}" type="slidenum">
              <a:rPr lang="fr-FR" smtClean="0"/>
              <a:t>‹N°›</a:t>
            </a:fld>
            <a:endParaRPr lang="fr-FR"/>
          </a:p>
        </p:txBody>
      </p:sp>
    </p:spTree>
    <p:extLst>
      <p:ext uri="{BB962C8B-B14F-4D97-AF65-F5344CB8AC3E}">
        <p14:creationId xmlns:p14="http://schemas.microsoft.com/office/powerpoint/2010/main" val="1757092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Bonjour. Je m'appelle [Prénom Nom], je suis en [Filière] à l'Université Paris Nanterre. Pour ce projet, j'ai choisi les données ouvertes de Parcoursup 2025 en Île-de-France : 2 691 formations, environ 153 000 places et plus de 4 millions de candidatures. Ma question est simple : où la concurrence est-elle la plus forte ?</a:t>
            </a:r>
          </a:p>
        </p:txBody>
      </p:sp>
      <p:sp>
        <p:nvSpPr>
          <p:cNvPr id="4" name="Espace réservé du numéro de diapositive 3"/>
          <p:cNvSpPr>
            <a:spLocks noGrp="1"/>
          </p:cNvSpPr>
          <p:nvPr>
            <p:ph type="sldNum" sz="quarter" idx="5"/>
          </p:nvPr>
        </p:nvSpPr>
        <p:spPr/>
        <p:txBody>
          <a:bodyPr/>
          <a:lstStyle/>
          <a:p>
            <a:fld id="{9046A5D2-B3DD-48C2-BF4B-52DF5390B197}" type="slidenum">
              <a:rPr lang="fr-FR" smtClean="0"/>
              <a:t>1</a:t>
            </a:fld>
            <a:endParaRPr lang="fr-FR"/>
          </a:p>
        </p:txBody>
      </p:sp>
    </p:spTree>
    <p:extLst>
      <p:ext uri="{BB962C8B-B14F-4D97-AF65-F5344CB8AC3E}">
        <p14:creationId xmlns:p14="http://schemas.microsoft.com/office/powerpoint/2010/main" val="16198214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Ma problématique tient en deux questions. Dans quelles filières est-il le plus difficile d'obtenir une place ? Et la situation est-elle la même à Paris et en banlieue ? Pour y répondre, j'utilise un indicateur simple : le nombre de candidatures par place. Ma démarche suit quatre étapes : collecter les données sur le portail du ministère, ajouter mes calculs, les synthétiser, puis les représenter par un graphique.</a:t>
            </a:r>
          </a:p>
        </p:txBody>
      </p:sp>
      <p:sp>
        <p:nvSpPr>
          <p:cNvPr id="4" name="Espace réservé du numéro de diapositive 3"/>
          <p:cNvSpPr>
            <a:spLocks noGrp="1"/>
          </p:cNvSpPr>
          <p:nvPr>
            <p:ph type="sldNum" sz="quarter" idx="5"/>
          </p:nvPr>
        </p:nvSpPr>
        <p:spPr/>
        <p:txBody>
          <a:bodyPr/>
          <a:lstStyle/>
          <a:p>
            <a:fld id="{9046A5D2-B3DD-48C2-BF4B-52DF5390B197}" type="slidenum">
              <a:rPr lang="fr-FR" smtClean="0"/>
              <a:t>2</a:t>
            </a:fld>
            <a:endParaRPr lang="fr-FR"/>
          </a:p>
        </p:txBody>
      </p:sp>
    </p:spTree>
    <p:extLst>
      <p:ext uri="{BB962C8B-B14F-4D97-AF65-F5344CB8AC3E}">
        <p14:creationId xmlns:p14="http://schemas.microsoft.com/office/powerpoint/2010/main" val="29735184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Voici mes données dans Excel. Chaque ligne correspond à une formation, avec son établissement, son département, sa filière, puis le nombre de places, de candidatures et d'admis. Les colonnes à en-tête orange sont celles que j'ai ajoutées par formule : la zone géographique avec RECHERCHEV, les candidatures par place avec une division protégée par SIERREUR, le taux de remplissage, et un niveau de tension obtenu avec des SI imbriqués.</a:t>
            </a:r>
          </a:p>
        </p:txBody>
      </p:sp>
      <p:sp>
        <p:nvSpPr>
          <p:cNvPr id="4" name="Espace réservé du numéro de diapositive 3"/>
          <p:cNvSpPr>
            <a:spLocks noGrp="1"/>
          </p:cNvSpPr>
          <p:nvPr>
            <p:ph type="sldNum" sz="quarter" idx="5"/>
          </p:nvPr>
        </p:nvSpPr>
        <p:spPr/>
        <p:txBody>
          <a:bodyPr/>
          <a:lstStyle/>
          <a:p>
            <a:fld id="{9046A5D2-B3DD-48C2-BF4B-52DF5390B197}" type="slidenum">
              <a:rPr lang="fr-FR" smtClean="0"/>
              <a:t>3</a:t>
            </a:fld>
            <a:endParaRPr lang="fr-FR"/>
          </a:p>
        </p:txBody>
      </p:sp>
    </p:spTree>
    <p:extLst>
      <p:ext uri="{BB962C8B-B14F-4D97-AF65-F5344CB8AC3E}">
        <p14:creationId xmlns:p14="http://schemas.microsoft.com/office/powerpoint/2010/main" val="26989592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Première exploration, avec le filtre et le tri. Un filtre avancé isole les 87 formations de mon université, que je trie ensuite de la plus demandée à la moins demandée. En tête, le portail Psychologie de la licence accès santé, avec 171 candidatures par place. Ma propre licence, MIASHS, en reçoit 19 : elle se classe 41e sur 87. Pour comparer les filières entre elles, il faut maintenant une synthèse.</a:t>
            </a:r>
          </a:p>
        </p:txBody>
      </p:sp>
      <p:sp>
        <p:nvSpPr>
          <p:cNvPr id="4" name="Espace réservé du numéro de diapositive 3"/>
          <p:cNvSpPr>
            <a:spLocks noGrp="1"/>
          </p:cNvSpPr>
          <p:nvPr>
            <p:ph type="sldNum" sz="quarter" idx="5"/>
          </p:nvPr>
        </p:nvSpPr>
        <p:spPr/>
        <p:txBody>
          <a:bodyPr/>
          <a:lstStyle/>
          <a:p>
            <a:fld id="{9046A5D2-B3DD-48C2-BF4B-52DF5390B197}" type="slidenum">
              <a:rPr lang="fr-FR" smtClean="0"/>
              <a:t>4</a:t>
            </a:fld>
            <a:endParaRPr lang="fr-FR"/>
          </a:p>
        </p:txBody>
      </p:sp>
    </p:spTree>
    <p:extLst>
      <p:ext uri="{BB962C8B-B14F-4D97-AF65-F5344CB8AC3E}">
        <p14:creationId xmlns:p14="http://schemas.microsoft.com/office/powerpoint/2010/main" val="8945717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La synthèse repose sur un tableau croisé dynamique. Pour chaque filière, il compte les formations, additionne les places et les candidatures, et un champ calculé donne le nombre de candidatures par place. Un second tableau croise les filières avec la zone géographique : Paris atteint 29 candidatures par place, contre 28 en petite couronne et 23 et demie en grande couronne. Les sous-totaux et les formules redonnent exactement les mêmes chiffres.</a:t>
            </a:r>
          </a:p>
        </p:txBody>
      </p:sp>
      <p:sp>
        <p:nvSpPr>
          <p:cNvPr id="4" name="Espace réservé du numéro de diapositive 3"/>
          <p:cNvSpPr>
            <a:spLocks noGrp="1"/>
          </p:cNvSpPr>
          <p:nvPr>
            <p:ph type="sldNum" sz="quarter" idx="5"/>
          </p:nvPr>
        </p:nvSpPr>
        <p:spPr/>
        <p:txBody>
          <a:bodyPr/>
          <a:lstStyle/>
          <a:p>
            <a:fld id="{9046A5D2-B3DD-48C2-BF4B-52DF5390B197}" type="slidenum">
              <a:rPr lang="fr-FR" smtClean="0"/>
              <a:t>5</a:t>
            </a:fld>
            <a:endParaRPr lang="fr-FR"/>
          </a:p>
        </p:txBody>
      </p:sp>
    </p:spTree>
    <p:extLst>
      <p:ext uri="{BB962C8B-B14F-4D97-AF65-F5344CB8AC3E}">
        <p14:creationId xmlns:p14="http://schemas.microsoft.com/office/powerpoint/2010/main" val="1941972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 graphique répond à ma question. Les filières de santé sont de loin les plus disputées : 81 candidatures par place en PASS, 58 pour les instituts de soins infirmiers. À l'inverse, la licence, qui offre à elle seule quatre places sur dix, reste parmi les moins tendues, avec 17 candidatures et demie par place. Une précaution toutefois : chaque candidat formule plusieurs vœux. Ce ratio mesure donc l'attractivité d'une filière, pas la chance d'y être admis. Merci de votre attention.</a:t>
            </a:r>
          </a:p>
        </p:txBody>
      </p:sp>
      <p:sp>
        <p:nvSpPr>
          <p:cNvPr id="4" name="Espace réservé du numéro de diapositive 3"/>
          <p:cNvSpPr>
            <a:spLocks noGrp="1"/>
          </p:cNvSpPr>
          <p:nvPr>
            <p:ph type="sldNum" sz="quarter" idx="5"/>
          </p:nvPr>
        </p:nvSpPr>
        <p:spPr/>
        <p:txBody>
          <a:bodyPr/>
          <a:lstStyle/>
          <a:p>
            <a:fld id="{9046A5D2-B3DD-48C2-BF4B-52DF5390B197}" type="slidenum">
              <a:rPr lang="fr-FR" smtClean="0"/>
              <a:t>6</a:t>
            </a:fld>
            <a:endParaRPr lang="fr-FR"/>
          </a:p>
        </p:txBody>
      </p:sp>
    </p:spTree>
    <p:extLst>
      <p:ext uri="{BB962C8B-B14F-4D97-AF65-F5344CB8AC3E}">
        <p14:creationId xmlns:p14="http://schemas.microsoft.com/office/powerpoint/2010/main" val="2114114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ouverture (fond bleu nuit)">
    <p:bg>
      <p:bgPr>
        <a:solidFill>
          <a:srgbClr val="12284C"/>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6CB537-734C-7493-7A00-98F28838DC21}"/>
              </a:ext>
            </a:extLst>
          </p:cNvPr>
          <p:cNvSpPr>
            <a:spLocks noGrp="1"/>
          </p:cNvSpPr>
          <p:nvPr>
            <p:ph type="ctrTitle"/>
          </p:nvPr>
        </p:nvSpPr>
        <p:spPr>
          <a:xfrm>
            <a:off x="762000" y="1270000"/>
            <a:ext cx="10160000" cy="1778000"/>
          </a:xfrm>
        </p:spPr>
        <p:txBody>
          <a:bodyPr lIns="0" anchor="t"/>
          <a:lstStyle>
            <a:lvl1pPr algn="l">
              <a:defRPr sz="4200" b="1">
                <a:solidFill>
                  <a:srgbClr val="FFFFFF"/>
                </a:solidFill>
              </a:defRPr>
            </a:lvl1pPr>
          </a:lstStyle>
          <a:p>
            <a:r>
              <a:rPr lang="fr-FR"/>
              <a:t>Modifiez le style du titre</a:t>
            </a:r>
          </a:p>
        </p:txBody>
      </p:sp>
      <p:sp>
        <p:nvSpPr>
          <p:cNvPr id="3" name="Sous-titre 2">
            <a:extLst>
              <a:ext uri="{FF2B5EF4-FFF2-40B4-BE49-F238E27FC236}">
                <a16:creationId xmlns:a16="http://schemas.microsoft.com/office/drawing/2014/main" id="{F799A6C9-BB08-E9E7-DD47-CA521B41F94E}"/>
              </a:ext>
            </a:extLst>
          </p:cNvPr>
          <p:cNvSpPr>
            <a:spLocks noGrp="1"/>
          </p:cNvSpPr>
          <p:nvPr>
            <p:ph type="subTitle" idx="1"/>
          </p:nvPr>
        </p:nvSpPr>
        <p:spPr>
          <a:xfrm>
            <a:off x="762000" y="2997200"/>
            <a:ext cx="10160000" cy="1219200"/>
          </a:xfrm>
        </p:spPr>
        <p:txBody>
          <a:bodyPr lIns="0" anchor="t"/>
          <a:lstStyle>
            <a:lvl1pPr marL="0" indent="0" algn="l">
              <a:buNone/>
              <a:defRPr sz="2400">
                <a:solidFill>
                  <a:srgbClr val="FFFFFF"/>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B00C5BAB-F141-0B8A-859A-050E17A8476B}"/>
              </a:ext>
            </a:extLst>
          </p:cNvPr>
          <p:cNvSpPr>
            <a:spLocks noGrp="1"/>
          </p:cNvSpPr>
          <p:nvPr>
            <p:ph type="dt" sz="half" idx="10"/>
          </p:nvPr>
        </p:nvSpPr>
        <p:spPr/>
        <p:txBody>
          <a:bodyPr/>
          <a:lstStyle/>
          <a:p>
            <a:fld id="{B7D7C1F9-545F-4587-9BFC-A1AC9063B0DA}" type="datetimeFigureOut">
              <a:rPr lang="fr-FR" smtClean="0"/>
              <a:t>12/10/2026</a:t>
            </a:fld>
            <a:endParaRPr lang="fr-FR"/>
          </a:p>
        </p:txBody>
      </p:sp>
      <p:sp>
        <p:nvSpPr>
          <p:cNvPr id="5" name="Espace réservé du pied de page 4">
            <a:extLst>
              <a:ext uri="{FF2B5EF4-FFF2-40B4-BE49-F238E27FC236}">
                <a16:creationId xmlns:a16="http://schemas.microsoft.com/office/drawing/2014/main" id="{F5AA1E40-6FA3-36CB-CF68-FE823D3C61C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BF2BC8F-4AAC-15A0-0036-8010F16CC8B8}"/>
              </a:ext>
            </a:extLst>
          </p:cNvPr>
          <p:cNvSpPr>
            <a:spLocks noGrp="1"/>
          </p:cNvSpPr>
          <p:nvPr>
            <p:ph type="sldNum" sz="quarter" idx="12"/>
          </p:nvPr>
        </p:nvSpPr>
        <p:spPr/>
        <p:txBody>
          <a:bodyPr/>
          <a:lstStyle/>
          <a:p>
            <a:fld id="{36104FB3-7E88-4A46-91BF-2C302A5CE104}" type="slidenum">
              <a:rPr lang="fr-FR" smtClean="0"/>
              <a:t>‹N°›</a:t>
            </a:fld>
            <a:endParaRPr lang="fr-FR"/>
          </a:p>
        </p:txBody>
      </p:sp>
    </p:spTree>
    <p:extLst>
      <p:ext uri="{BB962C8B-B14F-4D97-AF65-F5344CB8AC3E}">
        <p14:creationId xmlns:p14="http://schemas.microsoft.com/office/powerpoint/2010/main" val="24041320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288098-E958-52AC-C68B-0007AF6C3A2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ABFA01E-53DC-DF9F-7853-F01583B4475F}"/>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F80CB82-E440-606B-A88E-EF794CAF4BD8}"/>
              </a:ext>
            </a:extLst>
          </p:cNvPr>
          <p:cNvSpPr>
            <a:spLocks noGrp="1"/>
          </p:cNvSpPr>
          <p:nvPr>
            <p:ph type="dt" sz="half" idx="10"/>
          </p:nvPr>
        </p:nvSpPr>
        <p:spPr/>
        <p:txBody>
          <a:bodyPr/>
          <a:lstStyle/>
          <a:p>
            <a:fld id="{B7D7C1F9-545F-4587-9BFC-A1AC9063B0DA}" type="datetimeFigureOut">
              <a:rPr lang="fr-FR" smtClean="0"/>
              <a:t>12/10/2026</a:t>
            </a:fld>
            <a:endParaRPr lang="fr-FR"/>
          </a:p>
        </p:txBody>
      </p:sp>
      <p:sp>
        <p:nvSpPr>
          <p:cNvPr id="5" name="Espace réservé du pied de page 4">
            <a:extLst>
              <a:ext uri="{FF2B5EF4-FFF2-40B4-BE49-F238E27FC236}">
                <a16:creationId xmlns:a16="http://schemas.microsoft.com/office/drawing/2014/main" id="{CA16F3F7-CDA8-2BB2-E9E1-F5985DEB55D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BA2C008-26D5-7F5A-00D5-8464CC25B4C9}"/>
              </a:ext>
            </a:extLst>
          </p:cNvPr>
          <p:cNvSpPr>
            <a:spLocks noGrp="1"/>
          </p:cNvSpPr>
          <p:nvPr>
            <p:ph type="sldNum" sz="quarter" idx="12"/>
          </p:nvPr>
        </p:nvSpPr>
        <p:spPr/>
        <p:txBody>
          <a:bodyPr/>
          <a:lstStyle/>
          <a:p>
            <a:fld id="{36104FB3-7E88-4A46-91BF-2C302A5CE104}" type="slidenum">
              <a:rPr lang="fr-FR" smtClean="0"/>
              <a:t>‹N°›</a:t>
            </a:fld>
            <a:endParaRPr lang="fr-FR"/>
          </a:p>
        </p:txBody>
      </p:sp>
    </p:spTree>
    <p:extLst>
      <p:ext uri="{BB962C8B-B14F-4D97-AF65-F5344CB8AC3E}">
        <p14:creationId xmlns:p14="http://schemas.microsoft.com/office/powerpoint/2010/main" val="2281134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re seul (contenu lib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CDAB40-E575-D8C2-C4E6-805E75B7FA50}"/>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6A7E6EB5-B72A-9ADA-885D-24EB0A0814CA}"/>
              </a:ext>
            </a:extLst>
          </p:cNvPr>
          <p:cNvSpPr>
            <a:spLocks noGrp="1"/>
          </p:cNvSpPr>
          <p:nvPr>
            <p:ph type="dt" sz="half" idx="10"/>
          </p:nvPr>
        </p:nvSpPr>
        <p:spPr/>
        <p:txBody>
          <a:bodyPr/>
          <a:lstStyle/>
          <a:p>
            <a:fld id="{B7D7C1F9-545F-4587-9BFC-A1AC9063B0DA}" type="datetimeFigureOut">
              <a:rPr lang="fr-FR" smtClean="0"/>
              <a:t>12/10/2026</a:t>
            </a:fld>
            <a:endParaRPr lang="fr-FR"/>
          </a:p>
        </p:txBody>
      </p:sp>
      <p:sp>
        <p:nvSpPr>
          <p:cNvPr id="4" name="Espace réservé du pied de page 3">
            <a:extLst>
              <a:ext uri="{FF2B5EF4-FFF2-40B4-BE49-F238E27FC236}">
                <a16:creationId xmlns:a16="http://schemas.microsoft.com/office/drawing/2014/main" id="{3B77C5CC-4220-B95D-4C7F-A395AB2BA016}"/>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51183B56-13B9-6466-1562-62A3F78816CA}"/>
              </a:ext>
            </a:extLst>
          </p:cNvPr>
          <p:cNvSpPr>
            <a:spLocks noGrp="1"/>
          </p:cNvSpPr>
          <p:nvPr>
            <p:ph type="sldNum" sz="quarter" idx="12"/>
          </p:nvPr>
        </p:nvSpPr>
        <p:spPr/>
        <p:txBody>
          <a:bodyPr/>
          <a:lstStyle/>
          <a:p>
            <a:fld id="{36104FB3-7E88-4A46-91BF-2C302A5CE104}" type="slidenum">
              <a:rPr lang="fr-FR" smtClean="0"/>
              <a:t>‹N°›</a:t>
            </a:fld>
            <a:endParaRPr lang="fr-FR"/>
          </a:p>
        </p:txBody>
      </p:sp>
    </p:spTree>
    <p:extLst>
      <p:ext uri="{BB962C8B-B14F-4D97-AF65-F5344CB8AC3E}">
        <p14:creationId xmlns:p14="http://schemas.microsoft.com/office/powerpoint/2010/main" val="31836648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que Parcoursup">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9B5708CC-5011-0437-72CE-740FDC2D290E}"/>
              </a:ext>
            </a:extLst>
          </p:cNvPr>
          <p:cNvSpPr>
            <a:spLocks noGrp="1"/>
          </p:cNvSpPr>
          <p:nvPr>
            <p:ph type="title"/>
          </p:nvPr>
        </p:nvSpPr>
        <p:spPr>
          <a:xfrm>
            <a:off x="558800" y="330200"/>
            <a:ext cx="10414000" cy="787400"/>
          </a:xfrm>
          <a:prstGeom prst="rect">
            <a:avLst/>
          </a:prstGeom>
        </p:spPr>
        <p:txBody>
          <a:bodyPr vert="horz" lIns="0" tIns="45720" rIns="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6CEACFA3-91C9-95EF-924E-65D986AD3B0F}"/>
              </a:ext>
            </a:extLst>
          </p:cNvPr>
          <p:cNvSpPr>
            <a:spLocks noGrp="1"/>
          </p:cNvSpPr>
          <p:nvPr>
            <p:ph type="body" idx="1"/>
          </p:nvPr>
        </p:nvSpPr>
        <p:spPr>
          <a:xfrm>
            <a:off x="558800" y="1320800"/>
            <a:ext cx="11074400" cy="48514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9975D3B-F1B3-C187-A072-EFAF75A49B5E}"/>
              </a:ext>
            </a:extLst>
          </p:cNvPr>
          <p:cNvSpPr>
            <a:spLocks noGrp="1"/>
          </p:cNvSpPr>
          <p:nvPr>
            <p:ph type="dt" sz="half" idx="2"/>
          </p:nvPr>
        </p:nvSpPr>
        <p:spPr>
          <a:xfrm>
            <a:off x="8966200" y="6426200"/>
            <a:ext cx="1651000" cy="254000"/>
          </a:xfrm>
          <a:prstGeom prst="rect">
            <a:avLst/>
          </a:prstGeom>
        </p:spPr>
        <p:txBody>
          <a:bodyPr vert="horz" lIns="91440" tIns="45720" rIns="91440" bIns="45720" rtlCol="0" anchor="ctr"/>
          <a:lstStyle>
            <a:lvl1pPr algn="r">
              <a:defRPr sz="1050">
                <a:solidFill>
                  <a:srgbClr val="52514E"/>
                </a:solidFill>
              </a:defRPr>
            </a:lvl1pPr>
          </a:lstStyle>
          <a:p>
            <a:pPr algn="r"/>
            <a:fld id="{B7D7C1F9-545F-4587-9BFC-A1AC9063B0DA}" type="datetimeFigureOut">
              <a:rPr lang="fr-FR" smtClean="0"/>
              <a:pPr/>
              <a:t>12/10/2026</a:t>
            </a:fld>
            <a:endParaRPr lang="fr-FR"/>
          </a:p>
        </p:txBody>
      </p:sp>
      <p:sp>
        <p:nvSpPr>
          <p:cNvPr id="5" name="Espace réservé du pied de page 4">
            <a:extLst>
              <a:ext uri="{FF2B5EF4-FFF2-40B4-BE49-F238E27FC236}">
                <a16:creationId xmlns:a16="http://schemas.microsoft.com/office/drawing/2014/main" id="{8268470F-4C3A-154A-8137-073983EA62B4}"/>
              </a:ext>
            </a:extLst>
          </p:cNvPr>
          <p:cNvSpPr>
            <a:spLocks noGrp="1"/>
          </p:cNvSpPr>
          <p:nvPr>
            <p:ph type="ftr" sz="quarter" idx="3"/>
          </p:nvPr>
        </p:nvSpPr>
        <p:spPr>
          <a:xfrm>
            <a:off x="762000" y="6426200"/>
            <a:ext cx="8128000" cy="254000"/>
          </a:xfrm>
          <a:prstGeom prst="rect">
            <a:avLst/>
          </a:prstGeom>
        </p:spPr>
        <p:txBody>
          <a:bodyPr vert="horz" lIns="0" tIns="45720" rIns="91440" bIns="45720" rtlCol="0" anchor="ctr"/>
          <a:lstStyle>
            <a:lvl1pPr algn="l">
              <a:defRPr sz="1050">
                <a:solidFill>
                  <a:srgbClr val="52514E"/>
                </a:solidFill>
              </a:defRPr>
            </a:lvl1pPr>
          </a:lstStyle>
          <a:p>
            <a:pPr algn="l"/>
            <a:endParaRPr lang="fr-FR"/>
          </a:p>
        </p:txBody>
      </p:sp>
      <p:sp>
        <p:nvSpPr>
          <p:cNvPr id="6" name="Espace réservé du numéro de diapositive 5">
            <a:extLst>
              <a:ext uri="{FF2B5EF4-FFF2-40B4-BE49-F238E27FC236}">
                <a16:creationId xmlns:a16="http://schemas.microsoft.com/office/drawing/2014/main" id="{42133980-51F8-EDBE-B4E3-E30B940B554A}"/>
              </a:ext>
            </a:extLst>
          </p:cNvPr>
          <p:cNvSpPr>
            <a:spLocks noGrp="1"/>
          </p:cNvSpPr>
          <p:nvPr>
            <p:ph type="sldNum" sz="quarter" idx="4"/>
          </p:nvPr>
        </p:nvSpPr>
        <p:spPr>
          <a:xfrm>
            <a:off x="10744200" y="6426200"/>
            <a:ext cx="889000" cy="254000"/>
          </a:xfrm>
          <a:prstGeom prst="rect">
            <a:avLst/>
          </a:prstGeom>
        </p:spPr>
        <p:txBody>
          <a:bodyPr vert="horz" lIns="91440" tIns="45720" rIns="0" bIns="45720" rtlCol="0" anchor="ctr"/>
          <a:lstStyle>
            <a:lvl1pPr algn="r">
              <a:defRPr sz="1100" b="1">
                <a:solidFill>
                  <a:srgbClr val="12284C"/>
                </a:solidFill>
              </a:defRPr>
            </a:lvl1pPr>
          </a:lstStyle>
          <a:p>
            <a:fld id="{36104FB3-7E88-4A46-91BF-2C302A5CE104}" type="slidenum">
              <a:rPr lang="fr-FR" smtClean="0"/>
              <a:pPr/>
              <a:t>‹N°›</a:t>
            </a:fld>
            <a:endParaRPr lang="fr-FR"/>
          </a:p>
        </p:txBody>
      </p:sp>
      <p:sp>
        <p:nvSpPr>
          <p:cNvPr id="7" name="Pastille du masque">
            <a:extLst>
              <a:ext uri="{FF2B5EF4-FFF2-40B4-BE49-F238E27FC236}">
                <a16:creationId xmlns:a16="http://schemas.microsoft.com/office/drawing/2014/main" id="{8602BD78-AFD4-852D-5B97-773B3996C197}"/>
              </a:ext>
            </a:extLst>
          </p:cNvPr>
          <p:cNvSpPr/>
          <p:nvPr userDrawn="1"/>
        </p:nvSpPr>
        <p:spPr>
          <a:xfrm>
            <a:off x="558800" y="6489700"/>
            <a:ext cx="114300" cy="114300"/>
          </a:xfrm>
          <a:prstGeom prst="roundRect">
            <a:avLst>
              <a:gd name="adj" fmla="val 30000"/>
            </a:avLst>
          </a:prstGeom>
          <a:solidFill>
            <a:srgbClr val="EB683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5587866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Lst>
  <p:txStyles>
    <p:titleStyle>
      <a:lvl1pPr algn="l" defTabSz="914400" rtl="0" eaLnBrk="1" latinLnBrk="0" hangingPunct="1">
        <a:lnSpc>
          <a:spcPct val="90000"/>
        </a:lnSpc>
        <a:spcBef>
          <a:spcPct val="0"/>
        </a:spcBef>
        <a:buNone/>
        <a:defRPr sz="2800" b="1" kern="1200">
          <a:solidFill>
            <a:srgbClr val="12284C"/>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A1A19"/>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A1A19"/>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A1A19"/>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A1A19"/>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A1A19"/>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16FAE2-E77E-166E-A959-EABD0AEDD7F0}"/>
              </a:ext>
            </a:extLst>
          </p:cNvPr>
          <p:cNvSpPr>
            <a:spLocks noGrp="1"/>
          </p:cNvSpPr>
          <p:nvPr>
            <p:ph type="ctrTitle"/>
          </p:nvPr>
        </p:nvSpPr>
        <p:spPr/>
        <p:txBody>
          <a:bodyPr/>
          <a:lstStyle/>
          <a:p>
            <a:r>
              <a:rPr lang="fr-FR"/>
              <a:t>Parcoursup 2025 en Île-de-France</a:t>
            </a:r>
            <a:br>
              <a:rPr lang="fr-FR"/>
            </a:br>
            <a:r>
              <a:rPr lang="fr-FR" sz="2600" b="0">
                <a:solidFill>
                  <a:srgbClr val="F6A27C"/>
                </a:solidFill>
              </a:rPr>
              <a:t>Où la concurrence est-elle la plus forte ?</a:t>
            </a:r>
          </a:p>
        </p:txBody>
      </p:sp>
      <p:sp>
        <p:nvSpPr>
          <p:cNvPr id="3" name="Sous-titre 2">
            <a:extLst>
              <a:ext uri="{FF2B5EF4-FFF2-40B4-BE49-F238E27FC236}">
                <a16:creationId xmlns:a16="http://schemas.microsoft.com/office/drawing/2014/main" id="{583666FC-A6DE-E4CD-186B-3307016B65F8}"/>
              </a:ext>
            </a:extLst>
          </p:cNvPr>
          <p:cNvSpPr>
            <a:spLocks noGrp="1"/>
          </p:cNvSpPr>
          <p:nvPr>
            <p:ph type="subTitle" idx="1"/>
          </p:nvPr>
        </p:nvSpPr>
        <p:spPr/>
        <p:txBody>
          <a:bodyPr>
            <a:normAutofit/>
          </a:bodyPr>
          <a:lstStyle/>
          <a:p>
            <a:pPr>
              <a:spcAft>
                <a:spcPts val="400"/>
              </a:spcAft>
            </a:pPr>
            <a:r>
              <a:rPr lang="fr-FR" sz="2600" b="1"/>
              <a:t>[NOM Prénom]</a:t>
            </a:r>
          </a:p>
          <a:p>
            <a:r>
              <a:rPr lang="fr-FR" sz="1600">
                <a:solidFill>
                  <a:srgbClr val="CDE2FB"/>
                </a:solidFill>
              </a:rPr>
              <a:t>Année universitaire 2026-2027  ·  [Filière], Université Paris Nanterre</a:t>
            </a:r>
          </a:p>
          <a:p>
            <a:r>
              <a:rPr lang="fr-FR" sz="1300">
                <a:solidFill>
                  <a:srgbClr val="9EC5F4"/>
                </a:solidFill>
              </a:rPr>
              <a:t>[N° étudiant]</a:t>
            </a:r>
          </a:p>
        </p:txBody>
      </p:sp>
      <p:sp>
        <p:nvSpPr>
          <p:cNvPr id="4" name="ZoneTexte 3">
            <a:extLst>
              <a:ext uri="{FF2B5EF4-FFF2-40B4-BE49-F238E27FC236}">
                <a16:creationId xmlns:a16="http://schemas.microsoft.com/office/drawing/2014/main" id="{246DA1F9-6F43-4CF4-65F0-611FC3744103}"/>
              </a:ext>
            </a:extLst>
          </p:cNvPr>
          <p:cNvSpPr txBox="1"/>
          <p:nvPr/>
        </p:nvSpPr>
        <p:spPr>
          <a:xfrm>
            <a:off x="762000" y="838200"/>
            <a:ext cx="10160000" cy="203200"/>
          </a:xfrm>
          <a:prstGeom prst="rect">
            <a:avLst/>
          </a:prstGeom>
          <a:noFill/>
        </p:spPr>
        <p:txBody>
          <a:bodyPr vert="horz" wrap="square" lIns="0" tIns="0" rIns="0" bIns="0" rtlCol="0" anchor="t">
            <a:noAutofit/>
          </a:bodyPr>
          <a:lstStyle/>
          <a:p>
            <a:r>
              <a:rPr lang="fr-FR" sz="1100" b="1" spc="80">
                <a:solidFill>
                  <a:srgbClr val="9EC5F4"/>
                </a:solidFill>
              </a:rPr>
              <a:t>PROJET PERSONNEL  ·  SÉANCE 5 — DOCUMENTS MULTIMÉDIA</a:t>
            </a:r>
          </a:p>
        </p:txBody>
      </p:sp>
      <p:grpSp>
        <p:nvGrpSpPr>
          <p:cNvPr id="8" name="Tuile 1">
            <a:extLst>
              <a:ext uri="{FF2B5EF4-FFF2-40B4-BE49-F238E27FC236}">
                <a16:creationId xmlns:a16="http://schemas.microsoft.com/office/drawing/2014/main" id="{A21093F5-3826-83F5-0221-ADAD648E9B6D}"/>
              </a:ext>
            </a:extLst>
          </p:cNvPr>
          <p:cNvGrpSpPr/>
          <p:nvPr/>
        </p:nvGrpSpPr>
        <p:grpSpPr>
          <a:xfrm>
            <a:off x="762000" y="4775200"/>
            <a:ext cx="3175000" cy="1143000"/>
            <a:chOff x="762000" y="4775200"/>
            <a:chExt cx="3175000" cy="1143000"/>
          </a:xfrm>
        </p:grpSpPr>
        <p:sp>
          <p:nvSpPr>
            <p:cNvPr id="5" name="Rectangle : coins arrondis 4">
              <a:extLst>
                <a:ext uri="{FF2B5EF4-FFF2-40B4-BE49-F238E27FC236}">
                  <a16:creationId xmlns:a16="http://schemas.microsoft.com/office/drawing/2014/main" id="{B43FDD01-BF86-D0C9-459D-0C22EE1E6A35}"/>
                </a:ext>
              </a:extLst>
            </p:cNvPr>
            <p:cNvSpPr/>
            <p:nvPr/>
          </p:nvSpPr>
          <p:spPr>
            <a:xfrm>
              <a:off x="762000" y="4775200"/>
              <a:ext cx="3175000" cy="1143000"/>
            </a:xfrm>
            <a:prstGeom prst="roundRect">
              <a:avLst>
                <a:gd name="adj" fmla="val 10000"/>
              </a:avLst>
            </a:prstGeom>
            <a:solidFill>
              <a:srgbClr val="1D3B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a:extLst>
                <a:ext uri="{FF2B5EF4-FFF2-40B4-BE49-F238E27FC236}">
                  <a16:creationId xmlns:a16="http://schemas.microsoft.com/office/drawing/2014/main" id="{F50EE627-AB26-0911-8C10-DB9358A8DE67}"/>
                </a:ext>
              </a:extLst>
            </p:cNvPr>
            <p:cNvSpPr txBox="1"/>
            <p:nvPr/>
          </p:nvSpPr>
          <p:spPr>
            <a:xfrm>
              <a:off x="1016000" y="4902200"/>
              <a:ext cx="2667000" cy="533400"/>
            </a:xfrm>
            <a:prstGeom prst="rect">
              <a:avLst/>
            </a:prstGeom>
            <a:noFill/>
          </p:spPr>
          <p:txBody>
            <a:bodyPr vert="horz" wrap="square" lIns="0" tIns="0" rIns="0" bIns="0" rtlCol="0" anchor="t">
              <a:noAutofit/>
            </a:bodyPr>
            <a:lstStyle/>
            <a:p>
              <a:r>
                <a:rPr lang="fr-FR" sz="3200" b="1">
                  <a:solidFill>
                    <a:srgbClr val="FFFFFF"/>
                  </a:solidFill>
                </a:rPr>
                <a:t>2 691</a:t>
              </a:r>
            </a:p>
          </p:txBody>
        </p:sp>
        <p:sp>
          <p:nvSpPr>
            <p:cNvPr id="7" name="ZoneTexte 6">
              <a:extLst>
                <a:ext uri="{FF2B5EF4-FFF2-40B4-BE49-F238E27FC236}">
                  <a16:creationId xmlns:a16="http://schemas.microsoft.com/office/drawing/2014/main" id="{810D564A-E2B3-2481-9183-3CD7CAF3F464}"/>
                </a:ext>
              </a:extLst>
            </p:cNvPr>
            <p:cNvSpPr txBox="1"/>
            <p:nvPr/>
          </p:nvSpPr>
          <p:spPr>
            <a:xfrm>
              <a:off x="1016000" y="5461000"/>
              <a:ext cx="2667000" cy="254000"/>
            </a:xfrm>
            <a:prstGeom prst="rect">
              <a:avLst/>
            </a:prstGeom>
            <a:noFill/>
          </p:spPr>
          <p:txBody>
            <a:bodyPr vert="horz" wrap="square" lIns="0" tIns="0" rIns="0" bIns="0" rtlCol="0" anchor="t">
              <a:noAutofit/>
            </a:bodyPr>
            <a:lstStyle/>
            <a:p>
              <a:r>
                <a:rPr lang="fr-FR" sz="1250">
                  <a:solidFill>
                    <a:srgbClr val="CDE2FB"/>
                  </a:solidFill>
                </a:rPr>
                <a:t>formations en Île-de-France</a:t>
              </a:r>
            </a:p>
          </p:txBody>
        </p:sp>
      </p:grpSp>
      <p:grpSp>
        <p:nvGrpSpPr>
          <p:cNvPr id="12" name="Tuile 2">
            <a:extLst>
              <a:ext uri="{FF2B5EF4-FFF2-40B4-BE49-F238E27FC236}">
                <a16:creationId xmlns:a16="http://schemas.microsoft.com/office/drawing/2014/main" id="{005B6EF7-3570-C3EC-32C1-7E8A671617EA}"/>
              </a:ext>
            </a:extLst>
          </p:cNvPr>
          <p:cNvGrpSpPr/>
          <p:nvPr/>
        </p:nvGrpSpPr>
        <p:grpSpPr>
          <a:xfrm>
            <a:off x="4191000" y="4775200"/>
            <a:ext cx="3175000" cy="1143000"/>
            <a:chOff x="4191000" y="4775200"/>
            <a:chExt cx="3175000" cy="1143000"/>
          </a:xfrm>
        </p:grpSpPr>
        <p:sp>
          <p:nvSpPr>
            <p:cNvPr id="9" name="Rectangle : coins arrondis 8">
              <a:extLst>
                <a:ext uri="{FF2B5EF4-FFF2-40B4-BE49-F238E27FC236}">
                  <a16:creationId xmlns:a16="http://schemas.microsoft.com/office/drawing/2014/main" id="{3803AE3B-105B-CADB-51E0-BBACD7A2E945}"/>
                </a:ext>
              </a:extLst>
            </p:cNvPr>
            <p:cNvSpPr/>
            <p:nvPr/>
          </p:nvSpPr>
          <p:spPr>
            <a:xfrm>
              <a:off x="4191000" y="4775200"/>
              <a:ext cx="3175000" cy="1143000"/>
            </a:xfrm>
            <a:prstGeom prst="roundRect">
              <a:avLst>
                <a:gd name="adj" fmla="val 10000"/>
              </a:avLst>
            </a:prstGeom>
            <a:solidFill>
              <a:srgbClr val="1D3B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B0820FAC-31D9-CA12-0AEC-B2740E73CC77}"/>
                </a:ext>
              </a:extLst>
            </p:cNvPr>
            <p:cNvSpPr txBox="1"/>
            <p:nvPr/>
          </p:nvSpPr>
          <p:spPr>
            <a:xfrm>
              <a:off x="4445000" y="4902200"/>
              <a:ext cx="2667000" cy="533400"/>
            </a:xfrm>
            <a:prstGeom prst="rect">
              <a:avLst/>
            </a:prstGeom>
            <a:noFill/>
          </p:spPr>
          <p:txBody>
            <a:bodyPr vert="horz" wrap="square" lIns="0" tIns="0" rIns="0" bIns="0" rtlCol="0" anchor="t">
              <a:noAutofit/>
            </a:bodyPr>
            <a:lstStyle/>
            <a:p>
              <a:r>
                <a:rPr lang="fr-FR" sz="3200" b="1">
                  <a:solidFill>
                    <a:srgbClr val="FFFFFF"/>
                  </a:solidFill>
                </a:rPr>
                <a:t>153 229</a:t>
              </a:r>
            </a:p>
          </p:txBody>
        </p:sp>
        <p:sp>
          <p:nvSpPr>
            <p:cNvPr id="11" name="ZoneTexte 10">
              <a:extLst>
                <a:ext uri="{FF2B5EF4-FFF2-40B4-BE49-F238E27FC236}">
                  <a16:creationId xmlns:a16="http://schemas.microsoft.com/office/drawing/2014/main" id="{B9C2A91A-F065-ECCD-1B4E-D201244471A9}"/>
                </a:ext>
              </a:extLst>
            </p:cNvPr>
            <p:cNvSpPr txBox="1"/>
            <p:nvPr/>
          </p:nvSpPr>
          <p:spPr>
            <a:xfrm>
              <a:off x="4445000" y="5461000"/>
              <a:ext cx="2667000" cy="254000"/>
            </a:xfrm>
            <a:prstGeom prst="rect">
              <a:avLst/>
            </a:prstGeom>
            <a:noFill/>
          </p:spPr>
          <p:txBody>
            <a:bodyPr vert="horz" wrap="square" lIns="0" tIns="0" rIns="0" bIns="0" rtlCol="0" anchor="t">
              <a:noAutofit/>
            </a:bodyPr>
            <a:lstStyle/>
            <a:p>
              <a:r>
                <a:rPr lang="fr-FR" sz="1250">
                  <a:solidFill>
                    <a:srgbClr val="CDE2FB"/>
                  </a:solidFill>
                </a:rPr>
                <a:t>places offertes</a:t>
              </a:r>
            </a:p>
          </p:txBody>
        </p:sp>
      </p:grpSp>
      <p:grpSp>
        <p:nvGrpSpPr>
          <p:cNvPr id="16" name="Tuile 3">
            <a:extLst>
              <a:ext uri="{FF2B5EF4-FFF2-40B4-BE49-F238E27FC236}">
                <a16:creationId xmlns:a16="http://schemas.microsoft.com/office/drawing/2014/main" id="{8E4635C7-46AB-0273-5FF2-403234B5241E}"/>
              </a:ext>
            </a:extLst>
          </p:cNvPr>
          <p:cNvGrpSpPr/>
          <p:nvPr/>
        </p:nvGrpSpPr>
        <p:grpSpPr>
          <a:xfrm>
            <a:off x="7620000" y="4775200"/>
            <a:ext cx="3175000" cy="1143000"/>
            <a:chOff x="7620000" y="4775200"/>
            <a:chExt cx="3175000" cy="1143000"/>
          </a:xfrm>
        </p:grpSpPr>
        <p:sp>
          <p:nvSpPr>
            <p:cNvPr id="13" name="Rectangle : coins arrondis 12">
              <a:extLst>
                <a:ext uri="{FF2B5EF4-FFF2-40B4-BE49-F238E27FC236}">
                  <a16:creationId xmlns:a16="http://schemas.microsoft.com/office/drawing/2014/main" id="{5E385517-4E7C-E2E9-CDBA-99855790B644}"/>
                </a:ext>
              </a:extLst>
            </p:cNvPr>
            <p:cNvSpPr/>
            <p:nvPr/>
          </p:nvSpPr>
          <p:spPr>
            <a:xfrm>
              <a:off x="7620000" y="4775200"/>
              <a:ext cx="3175000" cy="1143000"/>
            </a:xfrm>
            <a:prstGeom prst="roundRect">
              <a:avLst>
                <a:gd name="adj" fmla="val 10000"/>
              </a:avLst>
            </a:prstGeom>
            <a:solidFill>
              <a:srgbClr val="1D3B6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0AB7F9F6-C286-83EF-C818-84F6666DA398}"/>
                </a:ext>
              </a:extLst>
            </p:cNvPr>
            <p:cNvSpPr txBox="1"/>
            <p:nvPr/>
          </p:nvSpPr>
          <p:spPr>
            <a:xfrm>
              <a:off x="7874000" y="4902200"/>
              <a:ext cx="2667000" cy="533400"/>
            </a:xfrm>
            <a:prstGeom prst="rect">
              <a:avLst/>
            </a:prstGeom>
            <a:noFill/>
          </p:spPr>
          <p:txBody>
            <a:bodyPr vert="horz" wrap="square" lIns="0" tIns="0" rIns="0" bIns="0" rtlCol="0" anchor="t">
              <a:noAutofit/>
            </a:bodyPr>
            <a:lstStyle/>
            <a:p>
              <a:r>
                <a:rPr lang="fr-FR" sz="3200" b="1">
                  <a:solidFill>
                    <a:srgbClr val="FFFFFF"/>
                  </a:solidFill>
                </a:rPr>
                <a:t>4,2 millions</a:t>
              </a:r>
            </a:p>
          </p:txBody>
        </p:sp>
        <p:sp>
          <p:nvSpPr>
            <p:cNvPr id="15" name="ZoneTexte 14">
              <a:extLst>
                <a:ext uri="{FF2B5EF4-FFF2-40B4-BE49-F238E27FC236}">
                  <a16:creationId xmlns:a16="http://schemas.microsoft.com/office/drawing/2014/main" id="{EB8930A8-181F-185D-7FE8-16B22FE87354}"/>
                </a:ext>
              </a:extLst>
            </p:cNvPr>
            <p:cNvSpPr txBox="1"/>
            <p:nvPr/>
          </p:nvSpPr>
          <p:spPr>
            <a:xfrm>
              <a:off x="7874000" y="5461000"/>
              <a:ext cx="2667000" cy="254000"/>
            </a:xfrm>
            <a:prstGeom prst="rect">
              <a:avLst/>
            </a:prstGeom>
            <a:noFill/>
          </p:spPr>
          <p:txBody>
            <a:bodyPr vert="horz" wrap="square" lIns="0" tIns="0" rIns="0" bIns="0" rtlCol="0" anchor="t">
              <a:noAutofit/>
            </a:bodyPr>
            <a:lstStyle/>
            <a:p>
              <a:r>
                <a:rPr lang="fr-FR" sz="1250">
                  <a:solidFill>
                    <a:srgbClr val="CDE2FB"/>
                  </a:solidFill>
                </a:rPr>
                <a:t>de candidatures</a:t>
              </a:r>
            </a:p>
          </p:txBody>
        </p:sp>
      </p:grpSp>
      <p:sp>
        <p:nvSpPr>
          <p:cNvPr id="17" name="ZoneTexte 16">
            <a:extLst>
              <a:ext uri="{FF2B5EF4-FFF2-40B4-BE49-F238E27FC236}">
                <a16:creationId xmlns:a16="http://schemas.microsoft.com/office/drawing/2014/main" id="{AF338F81-74E0-7CC9-E562-C851E5ADC7C6}"/>
              </a:ext>
            </a:extLst>
          </p:cNvPr>
          <p:cNvSpPr txBox="1"/>
          <p:nvPr/>
        </p:nvSpPr>
        <p:spPr>
          <a:xfrm>
            <a:off x="762000" y="6426200"/>
            <a:ext cx="10160000" cy="228600"/>
          </a:xfrm>
          <a:prstGeom prst="rect">
            <a:avLst/>
          </a:prstGeom>
          <a:noFill/>
        </p:spPr>
        <p:txBody>
          <a:bodyPr vert="horz" wrap="square" lIns="0" tIns="0" rIns="0" bIns="0" rtlCol="0" anchor="t">
            <a:noAutofit/>
          </a:bodyPr>
          <a:lstStyle/>
          <a:p>
            <a:r>
              <a:rPr lang="fr-FR" sz="1050">
                <a:solidFill>
                  <a:srgbClr val="9EC5F4"/>
                </a:solidFill>
              </a:rPr>
              <a:t>Données ouvertes : Parcoursup 2025, ministère chargé de l'Enseignement supérieur (SIES) — Licence Ouverte</a:t>
            </a:r>
          </a:p>
        </p:txBody>
      </p:sp>
    </p:spTree>
    <p:extLst>
      <p:ext uri="{BB962C8B-B14F-4D97-AF65-F5344CB8AC3E}">
        <p14:creationId xmlns:p14="http://schemas.microsoft.com/office/powerpoint/2010/main" val="3673866186"/>
      </p:ext>
    </p:extLst>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140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600"/>
                                        <p:tgtEl>
                                          <p:spTgt spid="8"/>
                                        </p:tgtEl>
                                      </p:cBhvr>
                                    </p:animEffect>
                                    <p:anim calcmode="lin" valueType="num">
                                      <p:cBhvr>
                                        <p:cTn id="8" dur="600" fill="hold"/>
                                        <p:tgtEl>
                                          <p:spTgt spid="8"/>
                                        </p:tgtEl>
                                        <p:attrNameLst>
                                          <p:attrName>ppt_x</p:attrName>
                                        </p:attrNameLst>
                                      </p:cBhvr>
                                      <p:tavLst>
                                        <p:tav tm="0">
                                          <p:val>
                                            <p:strVal val="#ppt_x"/>
                                          </p:val>
                                        </p:tav>
                                        <p:tav tm="100000">
                                          <p:val>
                                            <p:strVal val="#ppt_x"/>
                                          </p:val>
                                        </p:tav>
                                      </p:tavLst>
                                    </p:anim>
                                    <p:anim calcmode="lin" valueType="num">
                                      <p:cBhvr>
                                        <p:cTn id="9" dur="600" fill="hold"/>
                                        <p:tgtEl>
                                          <p:spTgt spid="8"/>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1700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600"/>
                                        <p:tgtEl>
                                          <p:spTgt spid="12"/>
                                        </p:tgtEl>
                                      </p:cBhvr>
                                    </p:animEffect>
                                    <p:anim calcmode="lin" valueType="num">
                                      <p:cBhvr>
                                        <p:cTn id="13" dur="600" fill="hold"/>
                                        <p:tgtEl>
                                          <p:spTgt spid="12"/>
                                        </p:tgtEl>
                                        <p:attrNameLst>
                                          <p:attrName>ppt_x</p:attrName>
                                        </p:attrNameLst>
                                      </p:cBhvr>
                                      <p:tavLst>
                                        <p:tav tm="0">
                                          <p:val>
                                            <p:strVal val="#ppt_x"/>
                                          </p:val>
                                        </p:tav>
                                        <p:tav tm="100000">
                                          <p:val>
                                            <p:strVal val="#ppt_x"/>
                                          </p:val>
                                        </p:tav>
                                      </p:tavLst>
                                    </p:anim>
                                    <p:anim calcmode="lin" valueType="num">
                                      <p:cBhvr>
                                        <p:cTn id="14" dur="600" fill="hold"/>
                                        <p:tgtEl>
                                          <p:spTgt spid="12"/>
                                        </p:tgtEl>
                                        <p:attrNameLst>
                                          <p:attrName>ppt_y</p:attrName>
                                        </p:attrNameLst>
                                      </p:cBhvr>
                                      <p:tavLst>
                                        <p:tav tm="0">
                                          <p:val>
                                            <p:strVal val="#ppt_y-.1"/>
                                          </p:val>
                                        </p:tav>
                                        <p:tav tm="100000">
                                          <p:val>
                                            <p:strVal val="#ppt_y"/>
                                          </p:val>
                                        </p:tav>
                                      </p:tavLst>
                                    </p:anim>
                                  </p:childTnLst>
                                </p:cTn>
                              </p:par>
                              <p:par>
                                <p:cTn id="15" presetID="47" presetClass="entr" presetSubtype="0" fill="hold" nodeType="withEffect">
                                  <p:stCondLst>
                                    <p:cond delay="2000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600"/>
                                        <p:tgtEl>
                                          <p:spTgt spid="16"/>
                                        </p:tgtEl>
                                      </p:cBhvr>
                                    </p:animEffect>
                                    <p:anim calcmode="lin" valueType="num">
                                      <p:cBhvr>
                                        <p:cTn id="18" dur="600" fill="hold"/>
                                        <p:tgtEl>
                                          <p:spTgt spid="16"/>
                                        </p:tgtEl>
                                        <p:attrNameLst>
                                          <p:attrName>ppt_x</p:attrName>
                                        </p:attrNameLst>
                                      </p:cBhvr>
                                      <p:tavLst>
                                        <p:tav tm="0">
                                          <p:val>
                                            <p:strVal val="#ppt_x"/>
                                          </p:val>
                                        </p:tav>
                                        <p:tav tm="100000">
                                          <p:val>
                                            <p:strVal val="#ppt_x"/>
                                          </p:val>
                                        </p:tav>
                                      </p:tavLst>
                                    </p:anim>
                                    <p:anim calcmode="lin" valueType="num">
                                      <p:cBhvr>
                                        <p:cTn id="19" dur="6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E35EA0-8A07-B6CB-237C-61EF71C6F3D3}"/>
              </a:ext>
            </a:extLst>
          </p:cNvPr>
          <p:cNvSpPr>
            <a:spLocks noGrp="1"/>
          </p:cNvSpPr>
          <p:nvPr>
            <p:ph type="title"/>
          </p:nvPr>
        </p:nvSpPr>
        <p:spPr/>
        <p:txBody>
          <a:bodyPr/>
          <a:lstStyle/>
          <a:p>
            <a:r>
              <a:rPr lang="fr-FR"/>
              <a:t>Problématique et démarche</a:t>
            </a:r>
          </a:p>
        </p:txBody>
      </p:sp>
      <p:sp>
        <p:nvSpPr>
          <p:cNvPr id="3" name="Rectangle : coins arrondis 2">
            <a:extLst>
              <a:ext uri="{FF2B5EF4-FFF2-40B4-BE49-F238E27FC236}">
                <a16:creationId xmlns:a16="http://schemas.microsoft.com/office/drawing/2014/main" id="{BD38BD1D-1732-9186-582D-77D9C550FF55}"/>
              </a:ext>
            </a:extLst>
          </p:cNvPr>
          <p:cNvSpPr/>
          <p:nvPr/>
        </p:nvSpPr>
        <p:spPr>
          <a:xfrm>
            <a:off x="558800" y="1320800"/>
            <a:ext cx="5283200" cy="4851400"/>
          </a:xfrm>
          <a:prstGeom prst="roundRect">
            <a:avLst>
              <a:gd name="adj" fmla="val 6000"/>
            </a:avLst>
          </a:prstGeom>
          <a:solidFill>
            <a:srgbClr val="F1F5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3E7532CF-CD23-9FE6-9AD4-1F3E8BC88FF5}"/>
              </a:ext>
            </a:extLst>
          </p:cNvPr>
          <p:cNvSpPr txBox="1"/>
          <p:nvPr/>
        </p:nvSpPr>
        <p:spPr>
          <a:xfrm>
            <a:off x="863600" y="1600200"/>
            <a:ext cx="4673600" cy="203200"/>
          </a:xfrm>
          <a:prstGeom prst="rect">
            <a:avLst/>
          </a:prstGeom>
          <a:noFill/>
        </p:spPr>
        <p:txBody>
          <a:bodyPr vert="horz" wrap="square" lIns="0" tIns="0" rIns="0" bIns="0" rtlCol="0" anchor="t">
            <a:noAutofit/>
          </a:bodyPr>
          <a:lstStyle/>
          <a:p>
            <a:r>
              <a:rPr lang="fr-FR" sz="1100" b="1" spc="80">
                <a:solidFill>
                  <a:srgbClr val="2A78D6"/>
                </a:solidFill>
              </a:rPr>
              <a:t>LA QUESTION</a:t>
            </a:r>
          </a:p>
        </p:txBody>
      </p:sp>
      <p:sp>
        <p:nvSpPr>
          <p:cNvPr id="5" name="ZoneTexte 4">
            <a:extLst>
              <a:ext uri="{FF2B5EF4-FFF2-40B4-BE49-F238E27FC236}">
                <a16:creationId xmlns:a16="http://schemas.microsoft.com/office/drawing/2014/main" id="{E293D54F-D67B-0D3A-F82B-DE538FC3A62E}"/>
              </a:ext>
            </a:extLst>
          </p:cNvPr>
          <p:cNvSpPr txBox="1"/>
          <p:nvPr/>
        </p:nvSpPr>
        <p:spPr>
          <a:xfrm>
            <a:off x="863600" y="1905000"/>
            <a:ext cx="4673600" cy="1397000"/>
          </a:xfrm>
          <a:prstGeom prst="rect">
            <a:avLst/>
          </a:prstGeom>
          <a:noFill/>
        </p:spPr>
        <p:txBody>
          <a:bodyPr vert="horz" wrap="square" lIns="0" tIns="0" rIns="0" bIns="0" rtlCol="0" anchor="t">
            <a:noAutofit/>
          </a:bodyPr>
          <a:lstStyle/>
          <a:p>
            <a:r>
              <a:rPr lang="fr-FR" sz="2200" b="1">
                <a:solidFill>
                  <a:srgbClr val="12284C"/>
                </a:solidFill>
              </a:rPr>
              <a:t>En Île-de-France, dans quelles</a:t>
            </a:r>
            <a:br>
              <a:rPr lang="fr-FR" sz="2200" b="1">
                <a:solidFill>
                  <a:srgbClr val="12284C"/>
                </a:solidFill>
              </a:rPr>
            </a:br>
            <a:r>
              <a:rPr lang="fr-FR" sz="2200" b="1">
                <a:solidFill>
                  <a:srgbClr val="12284C"/>
                </a:solidFill>
              </a:rPr>
              <a:t>filières est-il le plus difficile</a:t>
            </a:r>
            <a:br>
              <a:rPr lang="fr-FR" sz="2200" b="1">
                <a:solidFill>
                  <a:srgbClr val="12284C"/>
                </a:solidFill>
              </a:rPr>
            </a:br>
            <a:r>
              <a:rPr lang="fr-FR" sz="2200" b="1">
                <a:solidFill>
                  <a:srgbClr val="12284C"/>
                </a:solidFill>
              </a:rPr>
              <a:t>d'obtenir une place ?</a:t>
            </a:r>
          </a:p>
        </p:txBody>
      </p:sp>
      <p:sp>
        <p:nvSpPr>
          <p:cNvPr id="6" name="ZoneTexte 5">
            <a:extLst>
              <a:ext uri="{FF2B5EF4-FFF2-40B4-BE49-F238E27FC236}">
                <a16:creationId xmlns:a16="http://schemas.microsoft.com/office/drawing/2014/main" id="{EC3A0918-9CBC-7228-D8C0-502441A218A8}"/>
              </a:ext>
            </a:extLst>
          </p:cNvPr>
          <p:cNvSpPr txBox="1"/>
          <p:nvPr/>
        </p:nvSpPr>
        <p:spPr>
          <a:xfrm>
            <a:off x="863600" y="3200400"/>
            <a:ext cx="4673600" cy="889000"/>
          </a:xfrm>
          <a:prstGeom prst="rect">
            <a:avLst/>
          </a:prstGeom>
          <a:noFill/>
        </p:spPr>
        <p:txBody>
          <a:bodyPr vert="horz" wrap="square" lIns="0" tIns="0" rIns="0" bIns="0" rtlCol="0" anchor="t">
            <a:noAutofit/>
          </a:bodyPr>
          <a:lstStyle/>
          <a:p>
            <a:r>
              <a:rPr lang="fr-FR" sz="1600">
                <a:solidFill>
                  <a:srgbClr val="52514E"/>
                </a:solidFill>
              </a:rPr>
              <a:t>Et la situation est-elle la même à Paris, en petite couronne et en grande couronne ?</a:t>
            </a:r>
          </a:p>
        </p:txBody>
      </p:sp>
      <p:grpSp>
        <p:nvGrpSpPr>
          <p:cNvPr id="10" name="Indicateur">
            <a:extLst>
              <a:ext uri="{FF2B5EF4-FFF2-40B4-BE49-F238E27FC236}">
                <a16:creationId xmlns:a16="http://schemas.microsoft.com/office/drawing/2014/main" id="{056ABCD9-1439-A98B-0B7C-9F9DF0B37564}"/>
              </a:ext>
            </a:extLst>
          </p:cNvPr>
          <p:cNvGrpSpPr/>
          <p:nvPr/>
        </p:nvGrpSpPr>
        <p:grpSpPr>
          <a:xfrm>
            <a:off x="863600" y="4724400"/>
            <a:ext cx="4673600" cy="1143000"/>
            <a:chOff x="863600" y="4724400"/>
            <a:chExt cx="4673600" cy="1143000"/>
          </a:xfrm>
        </p:grpSpPr>
        <p:sp>
          <p:nvSpPr>
            <p:cNvPr id="7" name="Rectangle : coins arrondis 6">
              <a:extLst>
                <a:ext uri="{FF2B5EF4-FFF2-40B4-BE49-F238E27FC236}">
                  <a16:creationId xmlns:a16="http://schemas.microsoft.com/office/drawing/2014/main" id="{83108426-D2F3-E959-B20A-D0088691B51A}"/>
                </a:ext>
              </a:extLst>
            </p:cNvPr>
            <p:cNvSpPr/>
            <p:nvPr/>
          </p:nvSpPr>
          <p:spPr>
            <a:xfrm>
              <a:off x="863600" y="4724400"/>
              <a:ext cx="4673600" cy="1143000"/>
            </a:xfrm>
            <a:prstGeom prst="roundRect">
              <a:avLst>
                <a:gd name="adj" fmla="val 10000"/>
              </a:avLst>
            </a:prstGeom>
            <a:solidFill>
              <a:srgbClr val="FFFFFF"/>
            </a:solidFill>
            <a:ln w="9525">
              <a:solidFill>
                <a:srgbClr val="D9DEE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7C00B2A6-01DC-7806-216D-22E1D451F0E8}"/>
                </a:ext>
              </a:extLst>
            </p:cNvPr>
            <p:cNvSpPr txBox="1"/>
            <p:nvPr/>
          </p:nvSpPr>
          <p:spPr>
            <a:xfrm>
              <a:off x="1092200" y="4902200"/>
              <a:ext cx="4216400" cy="203200"/>
            </a:xfrm>
            <a:prstGeom prst="rect">
              <a:avLst/>
            </a:prstGeom>
            <a:noFill/>
          </p:spPr>
          <p:txBody>
            <a:bodyPr vert="horz" wrap="square" lIns="0" tIns="0" rIns="0" bIns="0" rtlCol="0" anchor="t">
              <a:noAutofit/>
            </a:bodyPr>
            <a:lstStyle/>
            <a:p>
              <a:r>
                <a:rPr lang="fr-FR" sz="1100" b="1" spc="80">
                  <a:solidFill>
                    <a:srgbClr val="B8461A"/>
                  </a:solidFill>
                </a:rPr>
                <a:t>L'INDICATEUR</a:t>
              </a:r>
            </a:p>
          </p:txBody>
        </p:sp>
        <p:sp>
          <p:nvSpPr>
            <p:cNvPr id="9" name="ZoneTexte 8">
              <a:extLst>
                <a:ext uri="{FF2B5EF4-FFF2-40B4-BE49-F238E27FC236}">
                  <a16:creationId xmlns:a16="http://schemas.microsoft.com/office/drawing/2014/main" id="{10570FC6-DC04-FC62-E0FD-83D6B95F50D1}"/>
                </a:ext>
              </a:extLst>
            </p:cNvPr>
            <p:cNvSpPr txBox="1"/>
            <p:nvPr/>
          </p:nvSpPr>
          <p:spPr>
            <a:xfrm>
              <a:off x="1092200" y="5156200"/>
              <a:ext cx="4216400" cy="584200"/>
            </a:xfrm>
            <a:prstGeom prst="rect">
              <a:avLst/>
            </a:prstGeom>
            <a:noFill/>
          </p:spPr>
          <p:txBody>
            <a:bodyPr vert="horz" wrap="square" lIns="0" tIns="0" rIns="0" bIns="0" rtlCol="0" anchor="t">
              <a:noAutofit/>
            </a:bodyPr>
            <a:lstStyle/>
            <a:p>
              <a:r>
                <a:rPr lang="fr-FR" b="1">
                  <a:solidFill>
                    <a:srgbClr val="12284C"/>
                  </a:solidFill>
                </a:rPr>
                <a:t>Candidatures par place</a:t>
              </a:r>
            </a:p>
            <a:p>
              <a:r>
                <a:rPr lang="fr-FR" sz="1350">
                  <a:solidFill>
                    <a:srgbClr val="52514E"/>
                  </a:solidFill>
                </a:rPr>
                <a:t>= candidatures reçues ÷ places offertes</a:t>
              </a:r>
            </a:p>
          </p:txBody>
        </p:sp>
      </p:grpSp>
      <p:sp>
        <p:nvSpPr>
          <p:cNvPr id="11" name="ZoneTexte 10">
            <a:extLst>
              <a:ext uri="{FF2B5EF4-FFF2-40B4-BE49-F238E27FC236}">
                <a16:creationId xmlns:a16="http://schemas.microsoft.com/office/drawing/2014/main" id="{BEC9BEDA-F49E-CBBA-5E81-DC2FDCAA4405}"/>
              </a:ext>
            </a:extLst>
          </p:cNvPr>
          <p:cNvSpPr txBox="1"/>
          <p:nvPr/>
        </p:nvSpPr>
        <p:spPr>
          <a:xfrm>
            <a:off x="6350000" y="1600200"/>
            <a:ext cx="5283200" cy="203200"/>
          </a:xfrm>
          <a:prstGeom prst="rect">
            <a:avLst/>
          </a:prstGeom>
          <a:noFill/>
        </p:spPr>
        <p:txBody>
          <a:bodyPr vert="horz" wrap="square" lIns="0" tIns="0" rIns="0" bIns="0" rtlCol="0" anchor="t">
            <a:noAutofit/>
          </a:bodyPr>
          <a:lstStyle/>
          <a:p>
            <a:r>
              <a:rPr lang="fr-FR" sz="1100" b="1" spc="80">
                <a:solidFill>
                  <a:srgbClr val="2A78D6"/>
                </a:solidFill>
              </a:rPr>
              <a:t>LA DÉMARCHE</a:t>
            </a:r>
          </a:p>
        </p:txBody>
      </p:sp>
      <p:grpSp>
        <p:nvGrpSpPr>
          <p:cNvPr id="15" name="Etape 1">
            <a:extLst>
              <a:ext uri="{FF2B5EF4-FFF2-40B4-BE49-F238E27FC236}">
                <a16:creationId xmlns:a16="http://schemas.microsoft.com/office/drawing/2014/main" id="{DE3CE09C-745E-A716-6957-40674B260B1F}"/>
              </a:ext>
            </a:extLst>
          </p:cNvPr>
          <p:cNvGrpSpPr/>
          <p:nvPr/>
        </p:nvGrpSpPr>
        <p:grpSpPr>
          <a:xfrm>
            <a:off x="6350000" y="1930400"/>
            <a:ext cx="5283200" cy="800100"/>
            <a:chOff x="6350000" y="1930400"/>
            <a:chExt cx="5283200" cy="800100"/>
          </a:xfrm>
        </p:grpSpPr>
        <p:sp>
          <p:nvSpPr>
            <p:cNvPr id="12" name="Ellipse 11">
              <a:extLst>
                <a:ext uri="{FF2B5EF4-FFF2-40B4-BE49-F238E27FC236}">
                  <a16:creationId xmlns:a16="http://schemas.microsoft.com/office/drawing/2014/main" id="{FC8ECE97-1B4B-E225-8D80-BE526E628567}"/>
                </a:ext>
              </a:extLst>
            </p:cNvPr>
            <p:cNvSpPr/>
            <p:nvPr/>
          </p:nvSpPr>
          <p:spPr>
            <a:xfrm>
              <a:off x="6350000" y="1955800"/>
              <a:ext cx="457200" cy="457200"/>
            </a:xfrm>
            <a:prstGeom prst="ellipse">
              <a:avLst/>
            </a:prstGeom>
            <a:solidFill>
              <a:srgbClr val="12284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600" b="1">
                  <a:solidFill>
                    <a:srgbClr val="FFFFFF"/>
                  </a:solidFill>
                </a:rPr>
                <a:t>1</a:t>
              </a:r>
            </a:p>
          </p:txBody>
        </p:sp>
        <p:sp>
          <p:nvSpPr>
            <p:cNvPr id="13" name="ZoneTexte 12">
              <a:extLst>
                <a:ext uri="{FF2B5EF4-FFF2-40B4-BE49-F238E27FC236}">
                  <a16:creationId xmlns:a16="http://schemas.microsoft.com/office/drawing/2014/main" id="{7C59D13F-8BC3-E984-59EF-AA4A5C85A116}"/>
                </a:ext>
              </a:extLst>
            </p:cNvPr>
            <p:cNvSpPr txBox="1"/>
            <p:nvPr/>
          </p:nvSpPr>
          <p:spPr>
            <a:xfrm>
              <a:off x="7010400" y="1930400"/>
              <a:ext cx="4622800" cy="279400"/>
            </a:xfrm>
            <a:prstGeom prst="rect">
              <a:avLst/>
            </a:prstGeom>
            <a:noFill/>
          </p:spPr>
          <p:txBody>
            <a:bodyPr vert="horz" wrap="square" lIns="0" tIns="0" rIns="0" bIns="0" rtlCol="0" anchor="t">
              <a:noAutofit/>
            </a:bodyPr>
            <a:lstStyle/>
            <a:p>
              <a:r>
                <a:rPr lang="fr-FR" sz="1700" b="1">
                  <a:solidFill>
                    <a:srgbClr val="12284C"/>
                  </a:solidFill>
                </a:rPr>
                <a:t>Collecter</a:t>
              </a:r>
            </a:p>
          </p:txBody>
        </p:sp>
        <p:sp>
          <p:nvSpPr>
            <p:cNvPr id="14" name="ZoneTexte 13">
              <a:extLst>
                <a:ext uri="{FF2B5EF4-FFF2-40B4-BE49-F238E27FC236}">
                  <a16:creationId xmlns:a16="http://schemas.microsoft.com/office/drawing/2014/main" id="{50AC4F58-8A22-F215-8EA1-3126F035B752}"/>
                </a:ext>
              </a:extLst>
            </p:cNvPr>
            <p:cNvSpPr txBox="1"/>
            <p:nvPr/>
          </p:nvSpPr>
          <p:spPr>
            <a:xfrm>
              <a:off x="7010400" y="2222500"/>
              <a:ext cx="4622800" cy="508000"/>
            </a:xfrm>
            <a:prstGeom prst="rect">
              <a:avLst/>
            </a:prstGeom>
            <a:noFill/>
          </p:spPr>
          <p:txBody>
            <a:bodyPr vert="horz" wrap="square" lIns="0" tIns="0" rIns="0" bIns="0" rtlCol="0" anchor="t">
              <a:noAutofit/>
            </a:bodyPr>
            <a:lstStyle/>
            <a:p>
              <a:r>
                <a:rPr lang="fr-FR" sz="1300">
                  <a:solidFill>
                    <a:srgbClr val="52514E"/>
                  </a:solidFill>
                </a:rPr>
                <a:t>Données ouvertes Parcoursup 2025, sur le portail du ministère chargé de l'Enseignement supérieur (Licence Ouverte).</a:t>
              </a:r>
            </a:p>
          </p:txBody>
        </p:sp>
      </p:grpSp>
      <p:grpSp>
        <p:nvGrpSpPr>
          <p:cNvPr id="19" name="Etape 2">
            <a:extLst>
              <a:ext uri="{FF2B5EF4-FFF2-40B4-BE49-F238E27FC236}">
                <a16:creationId xmlns:a16="http://schemas.microsoft.com/office/drawing/2014/main" id="{E4BA109D-3DBE-0AF4-C780-22811E157129}"/>
              </a:ext>
            </a:extLst>
          </p:cNvPr>
          <p:cNvGrpSpPr/>
          <p:nvPr/>
        </p:nvGrpSpPr>
        <p:grpSpPr>
          <a:xfrm>
            <a:off x="6350000" y="2997200"/>
            <a:ext cx="5283200" cy="800100"/>
            <a:chOff x="6350000" y="2997200"/>
            <a:chExt cx="5283200" cy="800100"/>
          </a:xfrm>
        </p:grpSpPr>
        <p:sp>
          <p:nvSpPr>
            <p:cNvPr id="16" name="Ellipse 15">
              <a:extLst>
                <a:ext uri="{FF2B5EF4-FFF2-40B4-BE49-F238E27FC236}">
                  <a16:creationId xmlns:a16="http://schemas.microsoft.com/office/drawing/2014/main" id="{5498E703-36F4-85F3-00D2-2B79317A7BE4}"/>
                </a:ext>
              </a:extLst>
            </p:cNvPr>
            <p:cNvSpPr/>
            <p:nvPr/>
          </p:nvSpPr>
          <p:spPr>
            <a:xfrm>
              <a:off x="6350000" y="3022600"/>
              <a:ext cx="457200" cy="457200"/>
            </a:xfrm>
            <a:prstGeom prst="ellipse">
              <a:avLst/>
            </a:prstGeom>
            <a:solidFill>
              <a:srgbClr val="12284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600" b="1">
                  <a:solidFill>
                    <a:srgbClr val="FFFFFF"/>
                  </a:solidFill>
                </a:rPr>
                <a:t>2</a:t>
              </a:r>
            </a:p>
          </p:txBody>
        </p:sp>
        <p:sp>
          <p:nvSpPr>
            <p:cNvPr id="17" name="ZoneTexte 16">
              <a:extLst>
                <a:ext uri="{FF2B5EF4-FFF2-40B4-BE49-F238E27FC236}">
                  <a16:creationId xmlns:a16="http://schemas.microsoft.com/office/drawing/2014/main" id="{877E1F4E-47B7-421D-3E50-7F7032CEB4D4}"/>
                </a:ext>
              </a:extLst>
            </p:cNvPr>
            <p:cNvSpPr txBox="1"/>
            <p:nvPr/>
          </p:nvSpPr>
          <p:spPr>
            <a:xfrm>
              <a:off x="7010400" y="2997200"/>
              <a:ext cx="4622800" cy="279400"/>
            </a:xfrm>
            <a:prstGeom prst="rect">
              <a:avLst/>
            </a:prstGeom>
            <a:noFill/>
          </p:spPr>
          <p:txBody>
            <a:bodyPr vert="horz" wrap="square" lIns="0" tIns="0" rIns="0" bIns="0" rtlCol="0" anchor="t">
              <a:noAutofit/>
            </a:bodyPr>
            <a:lstStyle/>
            <a:p>
              <a:r>
                <a:rPr lang="fr-FR" sz="1700" b="1">
                  <a:solidFill>
                    <a:srgbClr val="12284C"/>
                  </a:solidFill>
                </a:rPr>
                <a:t>Calculer</a:t>
              </a:r>
            </a:p>
          </p:txBody>
        </p:sp>
        <p:sp>
          <p:nvSpPr>
            <p:cNvPr id="18" name="ZoneTexte 17">
              <a:extLst>
                <a:ext uri="{FF2B5EF4-FFF2-40B4-BE49-F238E27FC236}">
                  <a16:creationId xmlns:a16="http://schemas.microsoft.com/office/drawing/2014/main" id="{61C9296E-D33B-4210-2CC1-955BD3F4BC52}"/>
                </a:ext>
              </a:extLst>
            </p:cNvPr>
            <p:cNvSpPr txBox="1"/>
            <p:nvPr/>
          </p:nvSpPr>
          <p:spPr>
            <a:xfrm>
              <a:off x="7010400" y="3289300"/>
              <a:ext cx="4622800" cy="508000"/>
            </a:xfrm>
            <a:prstGeom prst="rect">
              <a:avLst/>
            </a:prstGeom>
            <a:noFill/>
          </p:spPr>
          <p:txBody>
            <a:bodyPr vert="horz" wrap="square" lIns="0" tIns="0" rIns="0" bIns="0" rtlCol="0" anchor="t">
              <a:noAutofit/>
            </a:bodyPr>
            <a:lstStyle/>
            <a:p>
              <a:r>
                <a:rPr lang="fr-FR" sz="1300">
                  <a:solidFill>
                    <a:srgbClr val="52514E"/>
                  </a:solidFill>
                </a:rPr>
                <a:t>Quatre colonnes ajoutées par formule : RECHERCHEV, SIERREUR et SI imbriqués.</a:t>
              </a:r>
            </a:p>
          </p:txBody>
        </p:sp>
      </p:grpSp>
      <p:grpSp>
        <p:nvGrpSpPr>
          <p:cNvPr id="23" name="Etape 3">
            <a:extLst>
              <a:ext uri="{FF2B5EF4-FFF2-40B4-BE49-F238E27FC236}">
                <a16:creationId xmlns:a16="http://schemas.microsoft.com/office/drawing/2014/main" id="{545F042E-77E6-783D-9A18-8FD4C3408553}"/>
              </a:ext>
            </a:extLst>
          </p:cNvPr>
          <p:cNvGrpSpPr/>
          <p:nvPr/>
        </p:nvGrpSpPr>
        <p:grpSpPr>
          <a:xfrm>
            <a:off x="6350000" y="4064000"/>
            <a:ext cx="5283200" cy="800100"/>
            <a:chOff x="6350000" y="4064000"/>
            <a:chExt cx="5283200" cy="800100"/>
          </a:xfrm>
        </p:grpSpPr>
        <p:sp>
          <p:nvSpPr>
            <p:cNvPr id="20" name="Ellipse 19">
              <a:extLst>
                <a:ext uri="{FF2B5EF4-FFF2-40B4-BE49-F238E27FC236}">
                  <a16:creationId xmlns:a16="http://schemas.microsoft.com/office/drawing/2014/main" id="{DF3FCBEE-F2F7-E0E9-27F2-7FAE771D632E}"/>
                </a:ext>
              </a:extLst>
            </p:cNvPr>
            <p:cNvSpPr/>
            <p:nvPr/>
          </p:nvSpPr>
          <p:spPr>
            <a:xfrm>
              <a:off x="6350000" y="4089400"/>
              <a:ext cx="457200" cy="457200"/>
            </a:xfrm>
            <a:prstGeom prst="ellipse">
              <a:avLst/>
            </a:prstGeom>
            <a:solidFill>
              <a:srgbClr val="12284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600" b="1">
                  <a:solidFill>
                    <a:srgbClr val="FFFFFF"/>
                  </a:solidFill>
                </a:rPr>
                <a:t>3</a:t>
              </a:r>
            </a:p>
          </p:txBody>
        </p:sp>
        <p:sp>
          <p:nvSpPr>
            <p:cNvPr id="21" name="ZoneTexte 20">
              <a:extLst>
                <a:ext uri="{FF2B5EF4-FFF2-40B4-BE49-F238E27FC236}">
                  <a16:creationId xmlns:a16="http://schemas.microsoft.com/office/drawing/2014/main" id="{99CD06E3-9B21-505A-9F97-27E9F912A545}"/>
                </a:ext>
              </a:extLst>
            </p:cNvPr>
            <p:cNvSpPr txBox="1"/>
            <p:nvPr/>
          </p:nvSpPr>
          <p:spPr>
            <a:xfrm>
              <a:off x="7010400" y="4064000"/>
              <a:ext cx="4622800" cy="279400"/>
            </a:xfrm>
            <a:prstGeom prst="rect">
              <a:avLst/>
            </a:prstGeom>
            <a:noFill/>
          </p:spPr>
          <p:txBody>
            <a:bodyPr vert="horz" wrap="square" lIns="0" tIns="0" rIns="0" bIns="0" rtlCol="0" anchor="t">
              <a:noAutofit/>
            </a:bodyPr>
            <a:lstStyle/>
            <a:p>
              <a:r>
                <a:rPr lang="fr-FR" sz="1700" b="1">
                  <a:solidFill>
                    <a:srgbClr val="12284C"/>
                  </a:solidFill>
                </a:rPr>
                <a:t>Synthétiser</a:t>
              </a:r>
            </a:p>
          </p:txBody>
        </p:sp>
        <p:sp>
          <p:nvSpPr>
            <p:cNvPr id="22" name="ZoneTexte 21">
              <a:extLst>
                <a:ext uri="{FF2B5EF4-FFF2-40B4-BE49-F238E27FC236}">
                  <a16:creationId xmlns:a16="http://schemas.microsoft.com/office/drawing/2014/main" id="{62AB1C03-FD20-96C3-AAF6-70C9781B211D}"/>
                </a:ext>
              </a:extLst>
            </p:cNvPr>
            <p:cNvSpPr txBox="1"/>
            <p:nvPr/>
          </p:nvSpPr>
          <p:spPr>
            <a:xfrm>
              <a:off x="7010400" y="4356100"/>
              <a:ext cx="4622800" cy="508000"/>
            </a:xfrm>
            <a:prstGeom prst="rect">
              <a:avLst/>
            </a:prstGeom>
            <a:noFill/>
          </p:spPr>
          <p:txBody>
            <a:bodyPr vert="horz" wrap="square" lIns="0" tIns="0" rIns="0" bIns="0" rtlCol="0" anchor="t">
              <a:noAutofit/>
            </a:bodyPr>
            <a:lstStyle/>
            <a:p>
              <a:r>
                <a:rPr lang="fr-FR" sz="1300">
                  <a:solidFill>
                    <a:srgbClr val="52514E"/>
                  </a:solidFill>
                </a:rPr>
                <a:t>Tri, filtres, sous-totaux et tableaux croisés dynamiques.</a:t>
              </a:r>
            </a:p>
          </p:txBody>
        </p:sp>
      </p:grpSp>
      <p:grpSp>
        <p:nvGrpSpPr>
          <p:cNvPr id="27" name="Etape 4">
            <a:extLst>
              <a:ext uri="{FF2B5EF4-FFF2-40B4-BE49-F238E27FC236}">
                <a16:creationId xmlns:a16="http://schemas.microsoft.com/office/drawing/2014/main" id="{3817D26F-0A36-6CEB-043A-5B1CA42FA45F}"/>
              </a:ext>
            </a:extLst>
          </p:cNvPr>
          <p:cNvGrpSpPr/>
          <p:nvPr/>
        </p:nvGrpSpPr>
        <p:grpSpPr>
          <a:xfrm>
            <a:off x="6350000" y="5130800"/>
            <a:ext cx="5283200" cy="800100"/>
            <a:chOff x="6350000" y="5130800"/>
            <a:chExt cx="5283200" cy="800100"/>
          </a:xfrm>
        </p:grpSpPr>
        <p:sp>
          <p:nvSpPr>
            <p:cNvPr id="24" name="Ellipse 23">
              <a:extLst>
                <a:ext uri="{FF2B5EF4-FFF2-40B4-BE49-F238E27FC236}">
                  <a16:creationId xmlns:a16="http://schemas.microsoft.com/office/drawing/2014/main" id="{A219CC3B-D935-FFC0-ED90-49E1CB49D23F}"/>
                </a:ext>
              </a:extLst>
            </p:cNvPr>
            <p:cNvSpPr/>
            <p:nvPr/>
          </p:nvSpPr>
          <p:spPr>
            <a:xfrm>
              <a:off x="6350000" y="5156200"/>
              <a:ext cx="457200" cy="457200"/>
            </a:xfrm>
            <a:prstGeom prst="ellipse">
              <a:avLst/>
            </a:prstGeom>
            <a:solidFill>
              <a:srgbClr val="12284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600" b="1">
                  <a:solidFill>
                    <a:srgbClr val="FFFFFF"/>
                  </a:solidFill>
                </a:rPr>
                <a:t>4</a:t>
              </a:r>
            </a:p>
          </p:txBody>
        </p:sp>
        <p:sp>
          <p:nvSpPr>
            <p:cNvPr id="25" name="ZoneTexte 24">
              <a:extLst>
                <a:ext uri="{FF2B5EF4-FFF2-40B4-BE49-F238E27FC236}">
                  <a16:creationId xmlns:a16="http://schemas.microsoft.com/office/drawing/2014/main" id="{FB11B5F5-851C-6E61-E895-0A1545EB9DB6}"/>
                </a:ext>
              </a:extLst>
            </p:cNvPr>
            <p:cNvSpPr txBox="1"/>
            <p:nvPr/>
          </p:nvSpPr>
          <p:spPr>
            <a:xfrm>
              <a:off x="7010400" y="5130800"/>
              <a:ext cx="4622800" cy="279400"/>
            </a:xfrm>
            <a:prstGeom prst="rect">
              <a:avLst/>
            </a:prstGeom>
            <a:noFill/>
          </p:spPr>
          <p:txBody>
            <a:bodyPr vert="horz" wrap="square" lIns="0" tIns="0" rIns="0" bIns="0" rtlCol="0" anchor="t">
              <a:noAutofit/>
            </a:bodyPr>
            <a:lstStyle/>
            <a:p>
              <a:r>
                <a:rPr lang="fr-FR" sz="1700" b="1">
                  <a:solidFill>
                    <a:srgbClr val="12284C"/>
                  </a:solidFill>
                </a:rPr>
                <a:t>Visualiser</a:t>
              </a:r>
            </a:p>
          </p:txBody>
        </p:sp>
        <p:sp>
          <p:nvSpPr>
            <p:cNvPr id="26" name="ZoneTexte 25">
              <a:extLst>
                <a:ext uri="{FF2B5EF4-FFF2-40B4-BE49-F238E27FC236}">
                  <a16:creationId xmlns:a16="http://schemas.microsoft.com/office/drawing/2014/main" id="{9A388602-401C-4A45-B274-53FF23F09AB4}"/>
                </a:ext>
              </a:extLst>
            </p:cNvPr>
            <p:cNvSpPr txBox="1"/>
            <p:nvPr/>
          </p:nvSpPr>
          <p:spPr>
            <a:xfrm>
              <a:off x="7010400" y="5422900"/>
              <a:ext cx="4622800" cy="508000"/>
            </a:xfrm>
            <a:prstGeom prst="rect">
              <a:avLst/>
            </a:prstGeom>
            <a:noFill/>
          </p:spPr>
          <p:txBody>
            <a:bodyPr vert="horz" wrap="square" lIns="0" tIns="0" rIns="0" bIns="0" rtlCol="0" anchor="t">
              <a:noAutofit/>
            </a:bodyPr>
            <a:lstStyle/>
            <a:p>
              <a:r>
                <a:rPr lang="fr-FR" sz="1300">
                  <a:solidFill>
                    <a:srgbClr val="52514E"/>
                  </a:solidFill>
                </a:rPr>
                <a:t>Un graphique en barres qui répond à la question.</a:t>
              </a:r>
            </a:p>
          </p:txBody>
        </p:sp>
      </p:grpSp>
      <p:sp>
        <p:nvSpPr>
          <p:cNvPr id="28" name="Espace réservé du pied de page 27">
            <a:extLst>
              <a:ext uri="{FF2B5EF4-FFF2-40B4-BE49-F238E27FC236}">
                <a16:creationId xmlns:a16="http://schemas.microsoft.com/office/drawing/2014/main" id="{C649E6D2-DDDB-3A8B-2C70-0AF4B4C2A00B}"/>
              </a:ext>
            </a:extLst>
          </p:cNvPr>
          <p:cNvSpPr>
            <a:spLocks noGrp="1"/>
          </p:cNvSpPr>
          <p:nvPr>
            <p:ph type="ftr" sz="quarter" idx="11"/>
          </p:nvPr>
        </p:nvSpPr>
        <p:spPr/>
        <p:txBody>
          <a:bodyPr/>
          <a:lstStyle/>
          <a:p>
            <a:r>
              <a:rPr lang="fr-FR"/>
              <a:t>[NOM Prénom] · [N° étudiant]  —  Parcoursup 2025 en Île-de-France  ·  Année universitaire 2026-2027</a:t>
            </a:r>
          </a:p>
        </p:txBody>
      </p:sp>
      <p:sp>
        <p:nvSpPr>
          <p:cNvPr id="29" name="Espace réservé du numéro de diapositive 28">
            <a:extLst>
              <a:ext uri="{FF2B5EF4-FFF2-40B4-BE49-F238E27FC236}">
                <a16:creationId xmlns:a16="http://schemas.microsoft.com/office/drawing/2014/main" id="{78ED3115-3FFE-6D8B-8E4A-D3623B331A44}"/>
              </a:ext>
            </a:extLst>
          </p:cNvPr>
          <p:cNvSpPr>
            <a:spLocks noGrp="1"/>
          </p:cNvSpPr>
          <p:nvPr>
            <p:ph type="sldNum" sz="quarter" idx="12"/>
          </p:nvPr>
        </p:nvSpPr>
        <p:spPr/>
        <p:txBody>
          <a:bodyPr/>
          <a:lstStyle/>
          <a:p>
            <a:fld id="{36104FB3-7E88-4A46-91BF-2C302A5CE104}" type="slidenum">
              <a:rPr lang="fr-FR" smtClean="0"/>
              <a:t>2</a:t>
            </a:fld>
            <a:endParaRPr lang="fr-FR"/>
          </a:p>
        </p:txBody>
      </p:sp>
    </p:spTree>
    <p:extLst>
      <p:ext uri="{BB962C8B-B14F-4D97-AF65-F5344CB8AC3E}">
        <p14:creationId xmlns:p14="http://schemas.microsoft.com/office/powerpoint/2010/main" val="1140208157"/>
      </p:ext>
    </p:extLst>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70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8" presetID="47" presetClass="entr" presetSubtype="0" fill="hold" nodeType="withEffect">
                                  <p:stCondLst>
                                    <p:cond delay="1150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600"/>
                                        <p:tgtEl>
                                          <p:spTgt spid="10"/>
                                        </p:tgtEl>
                                      </p:cBhvr>
                                    </p:animEffect>
                                    <p:anim calcmode="lin" valueType="num">
                                      <p:cBhvr>
                                        <p:cTn id="11" dur="600" fill="hold"/>
                                        <p:tgtEl>
                                          <p:spTgt spid="10"/>
                                        </p:tgtEl>
                                        <p:attrNameLst>
                                          <p:attrName>ppt_x</p:attrName>
                                        </p:attrNameLst>
                                      </p:cBhvr>
                                      <p:tavLst>
                                        <p:tav tm="0">
                                          <p:val>
                                            <p:strVal val="#ppt_x"/>
                                          </p:val>
                                        </p:tav>
                                        <p:tav tm="100000">
                                          <p:val>
                                            <p:strVal val="#ppt_x"/>
                                          </p:val>
                                        </p:tav>
                                      </p:tavLst>
                                    </p:anim>
                                    <p:anim calcmode="lin" valueType="num">
                                      <p:cBhvr>
                                        <p:cTn id="12" dur="600" fill="hold"/>
                                        <p:tgtEl>
                                          <p:spTgt spid="10"/>
                                        </p:tgtEl>
                                        <p:attrNameLst>
                                          <p:attrName>ppt_y</p:attrName>
                                        </p:attrNameLst>
                                      </p:cBhvr>
                                      <p:tavLst>
                                        <p:tav tm="0">
                                          <p:val>
                                            <p:strVal val="#ppt_y-.1"/>
                                          </p:val>
                                        </p:tav>
                                        <p:tav tm="100000">
                                          <p:val>
                                            <p:strVal val="#ppt_y"/>
                                          </p:val>
                                        </p:tav>
                                      </p:tavLst>
                                    </p:anim>
                                  </p:childTnLst>
                                </p:cTn>
                              </p:par>
                              <p:par>
                                <p:cTn id="13" presetID="10" presetClass="entr" presetSubtype="0" fill="hold" nodeType="withEffect">
                                  <p:stCondLst>
                                    <p:cond delay="1850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600"/>
                                        <p:tgtEl>
                                          <p:spTgt spid="15"/>
                                        </p:tgtEl>
                                      </p:cBhvr>
                                    </p:animEffect>
                                  </p:childTnLst>
                                </p:cTn>
                              </p:par>
                              <p:par>
                                <p:cTn id="16" presetID="10" presetClass="entr" presetSubtype="0" fill="hold" nodeType="withEffect">
                                  <p:stCondLst>
                                    <p:cond delay="2150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600"/>
                                        <p:tgtEl>
                                          <p:spTgt spid="19"/>
                                        </p:tgtEl>
                                      </p:cBhvr>
                                    </p:animEffect>
                                  </p:childTnLst>
                                </p:cTn>
                              </p:par>
                              <p:par>
                                <p:cTn id="19" presetID="10" presetClass="entr" presetSubtype="0" fill="hold" nodeType="withEffect">
                                  <p:stCondLst>
                                    <p:cond delay="2350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600"/>
                                        <p:tgtEl>
                                          <p:spTgt spid="23"/>
                                        </p:tgtEl>
                                      </p:cBhvr>
                                    </p:animEffect>
                                  </p:childTnLst>
                                </p:cTn>
                              </p:par>
                              <p:par>
                                <p:cTn id="22" presetID="10" presetClass="entr" presetSubtype="0" fill="hold" nodeType="withEffect">
                                  <p:stCondLst>
                                    <p:cond delay="2550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6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320126-65DF-F29D-2DDA-8AEADFBCEC20}"/>
              </a:ext>
            </a:extLst>
          </p:cNvPr>
          <p:cNvSpPr>
            <a:spLocks noGrp="1"/>
          </p:cNvSpPr>
          <p:nvPr>
            <p:ph type="title"/>
          </p:nvPr>
        </p:nvSpPr>
        <p:spPr/>
        <p:txBody>
          <a:bodyPr/>
          <a:lstStyle/>
          <a:p>
            <a:r>
              <a:rPr lang="fr-FR"/>
              <a:t>Les données</a:t>
            </a:r>
          </a:p>
        </p:txBody>
      </p:sp>
      <p:pic>
        <p:nvPicPr>
          <p:cNvPr id="4" name="Image 3" descr="Capture d'écran de la feuille Données du classeur Excel : une ligne par formation, en-têtes bleus pour les colonnes d'origine, en-têtes orange pour les quatre colonnes calculées.">
            <a:extLst>
              <a:ext uri="{FF2B5EF4-FFF2-40B4-BE49-F238E27FC236}">
                <a16:creationId xmlns:a16="http://schemas.microsoft.com/office/drawing/2014/main" id="{6A5735BE-0C76-058B-5AFD-7D8E82AC11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800" y="1270000"/>
            <a:ext cx="11074400" cy="2348230"/>
          </a:xfrm>
          <a:prstGeom prst="rect">
            <a:avLst/>
          </a:prstGeom>
          <a:ln w="9525">
            <a:solidFill>
              <a:srgbClr val="D9DEE7"/>
            </a:solidFill>
          </a:ln>
          <a:effectLst>
            <a:outerShdw blurRad="177800" dist="50800" dir="5400000" rotWithShape="0">
              <a:srgbClr val="000000">
                <a:alpha val="22000"/>
              </a:srgbClr>
            </a:outerShdw>
          </a:effectLst>
        </p:spPr>
      </p:pic>
      <p:grpSp>
        <p:nvGrpSpPr>
          <p:cNvPr id="9" name="Legende des colonnes">
            <a:extLst>
              <a:ext uri="{FF2B5EF4-FFF2-40B4-BE49-F238E27FC236}">
                <a16:creationId xmlns:a16="http://schemas.microsoft.com/office/drawing/2014/main" id="{F05BB9CD-FE44-F8B5-A2C0-4330324916A4}"/>
              </a:ext>
            </a:extLst>
          </p:cNvPr>
          <p:cNvGrpSpPr/>
          <p:nvPr/>
        </p:nvGrpSpPr>
        <p:grpSpPr>
          <a:xfrm>
            <a:off x="558800" y="3721100"/>
            <a:ext cx="7645400" cy="203200"/>
            <a:chOff x="558800" y="3721100"/>
            <a:chExt cx="7645400" cy="203200"/>
          </a:xfrm>
        </p:grpSpPr>
        <p:sp>
          <p:nvSpPr>
            <p:cNvPr id="5" name="Rectangle 4">
              <a:extLst>
                <a:ext uri="{FF2B5EF4-FFF2-40B4-BE49-F238E27FC236}">
                  <a16:creationId xmlns:a16="http://schemas.microsoft.com/office/drawing/2014/main" id="{3EE95BAF-0D6B-640F-1ABD-192FAEBF1012}"/>
                </a:ext>
              </a:extLst>
            </p:cNvPr>
            <p:cNvSpPr/>
            <p:nvPr/>
          </p:nvSpPr>
          <p:spPr>
            <a:xfrm>
              <a:off x="558800" y="3771900"/>
              <a:ext cx="127000" cy="127000"/>
            </a:xfrm>
            <a:prstGeom prst="rect">
              <a:avLst/>
            </a:prstGeom>
            <a:solidFill>
              <a:srgbClr val="12284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a:extLst>
                <a:ext uri="{FF2B5EF4-FFF2-40B4-BE49-F238E27FC236}">
                  <a16:creationId xmlns:a16="http://schemas.microsoft.com/office/drawing/2014/main" id="{2F10FDA2-3054-8469-990A-CF67AB38F9C1}"/>
                </a:ext>
              </a:extLst>
            </p:cNvPr>
            <p:cNvSpPr txBox="1"/>
            <p:nvPr/>
          </p:nvSpPr>
          <p:spPr>
            <a:xfrm>
              <a:off x="762000" y="3721100"/>
              <a:ext cx="3556000" cy="203200"/>
            </a:xfrm>
            <a:prstGeom prst="rect">
              <a:avLst/>
            </a:prstGeom>
            <a:noFill/>
          </p:spPr>
          <p:txBody>
            <a:bodyPr vert="horz" wrap="square" lIns="0" tIns="0" rIns="0" bIns="0" rtlCol="0" anchor="t">
              <a:noAutofit/>
            </a:bodyPr>
            <a:lstStyle/>
            <a:p>
              <a:r>
                <a:rPr lang="fr-FR" sz="1150">
                  <a:solidFill>
                    <a:srgbClr val="52514E"/>
                  </a:solidFill>
                </a:rPr>
                <a:t>Colonnes d'origine (portail open data)</a:t>
              </a:r>
            </a:p>
          </p:txBody>
        </p:sp>
        <p:sp>
          <p:nvSpPr>
            <p:cNvPr id="7" name="Rectangle 6">
              <a:extLst>
                <a:ext uri="{FF2B5EF4-FFF2-40B4-BE49-F238E27FC236}">
                  <a16:creationId xmlns:a16="http://schemas.microsoft.com/office/drawing/2014/main" id="{EF2D316C-583C-C3C9-B382-72C686E9BCD0}"/>
                </a:ext>
              </a:extLst>
            </p:cNvPr>
            <p:cNvSpPr/>
            <p:nvPr/>
          </p:nvSpPr>
          <p:spPr>
            <a:xfrm>
              <a:off x="4191000" y="3771900"/>
              <a:ext cx="127000" cy="127000"/>
            </a:xfrm>
            <a:prstGeom prst="rect">
              <a:avLst/>
            </a:prstGeom>
            <a:solidFill>
              <a:srgbClr val="C850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2F6C731B-E6D1-64EE-9810-02CD157D6837}"/>
                </a:ext>
              </a:extLst>
            </p:cNvPr>
            <p:cNvSpPr txBox="1"/>
            <p:nvPr/>
          </p:nvSpPr>
          <p:spPr>
            <a:xfrm>
              <a:off x="4394200" y="3721100"/>
              <a:ext cx="3810000" cy="203200"/>
            </a:xfrm>
            <a:prstGeom prst="rect">
              <a:avLst/>
            </a:prstGeom>
            <a:noFill/>
          </p:spPr>
          <p:txBody>
            <a:bodyPr vert="horz" wrap="square" lIns="0" tIns="0" rIns="0" bIns="0" rtlCol="0" anchor="t">
              <a:noAutofit/>
            </a:bodyPr>
            <a:lstStyle/>
            <a:p>
              <a:r>
                <a:rPr lang="fr-FR" sz="1150">
                  <a:solidFill>
                    <a:srgbClr val="52514E"/>
                  </a:solidFill>
                </a:rPr>
                <a:t>Colonnes calculées par mes formules</a:t>
              </a:r>
            </a:p>
          </p:txBody>
        </p:sp>
      </p:grpSp>
      <p:grpSp>
        <p:nvGrpSpPr>
          <p:cNvPr id="14" name="Description des donnees">
            <a:extLst>
              <a:ext uri="{FF2B5EF4-FFF2-40B4-BE49-F238E27FC236}">
                <a16:creationId xmlns:a16="http://schemas.microsoft.com/office/drawing/2014/main" id="{EB6EEB7B-EF37-4894-CB4A-2C096F18DA59}"/>
              </a:ext>
            </a:extLst>
          </p:cNvPr>
          <p:cNvGrpSpPr/>
          <p:nvPr/>
        </p:nvGrpSpPr>
        <p:grpSpPr>
          <a:xfrm>
            <a:off x="558800" y="4089400"/>
            <a:ext cx="5435600" cy="2082800"/>
            <a:chOff x="558800" y="4089400"/>
            <a:chExt cx="5435600" cy="2082800"/>
          </a:xfrm>
        </p:grpSpPr>
        <p:sp>
          <p:nvSpPr>
            <p:cNvPr id="10" name="Rectangle : coins arrondis 9">
              <a:extLst>
                <a:ext uri="{FF2B5EF4-FFF2-40B4-BE49-F238E27FC236}">
                  <a16:creationId xmlns:a16="http://schemas.microsoft.com/office/drawing/2014/main" id="{7EB7518D-829F-62EB-E398-96E47486A4A1}"/>
                </a:ext>
              </a:extLst>
            </p:cNvPr>
            <p:cNvSpPr/>
            <p:nvPr/>
          </p:nvSpPr>
          <p:spPr>
            <a:xfrm>
              <a:off x="558800" y="4089400"/>
              <a:ext cx="5435600" cy="2082800"/>
            </a:xfrm>
            <a:prstGeom prst="roundRect">
              <a:avLst>
                <a:gd name="adj" fmla="val 6000"/>
              </a:avLst>
            </a:prstGeom>
            <a:solidFill>
              <a:srgbClr val="F1F5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71726857-1AD6-F447-62E1-A14010BF721E}"/>
                </a:ext>
              </a:extLst>
            </p:cNvPr>
            <p:cNvSpPr txBox="1"/>
            <p:nvPr/>
          </p:nvSpPr>
          <p:spPr>
            <a:xfrm>
              <a:off x="812800" y="4279900"/>
              <a:ext cx="4927600" cy="203200"/>
            </a:xfrm>
            <a:prstGeom prst="rect">
              <a:avLst/>
            </a:prstGeom>
            <a:noFill/>
          </p:spPr>
          <p:txBody>
            <a:bodyPr vert="horz" wrap="square" lIns="0" tIns="0" rIns="0" bIns="0" rtlCol="0" anchor="t">
              <a:noAutofit/>
            </a:bodyPr>
            <a:lstStyle/>
            <a:p>
              <a:r>
                <a:rPr lang="fr-FR" sz="1100" b="1" spc="80">
                  <a:solidFill>
                    <a:srgbClr val="2A78D6"/>
                  </a:solidFill>
                </a:rPr>
                <a:t>LE JEU DE DONNÉES</a:t>
              </a:r>
            </a:p>
          </p:txBody>
        </p:sp>
        <p:sp>
          <p:nvSpPr>
            <p:cNvPr id="12" name="ZoneTexte 11">
              <a:extLst>
                <a:ext uri="{FF2B5EF4-FFF2-40B4-BE49-F238E27FC236}">
                  <a16:creationId xmlns:a16="http://schemas.microsoft.com/office/drawing/2014/main" id="{C408DB63-E5DA-4DC6-ACBC-5ED3B6118C13}"/>
                </a:ext>
              </a:extLst>
            </p:cNvPr>
            <p:cNvSpPr txBox="1"/>
            <p:nvPr/>
          </p:nvSpPr>
          <p:spPr>
            <a:xfrm>
              <a:off x="812800" y="4546600"/>
              <a:ext cx="4927600" cy="965200"/>
            </a:xfrm>
            <a:prstGeom prst="rect">
              <a:avLst/>
            </a:prstGeom>
            <a:noFill/>
          </p:spPr>
          <p:txBody>
            <a:bodyPr vert="horz" wrap="square" lIns="0" tIns="0" rIns="0" bIns="0" rtlCol="0" anchor="t">
              <a:noAutofit/>
            </a:bodyPr>
            <a:lstStyle/>
            <a:p>
              <a:r>
                <a:rPr lang="fr-FR" sz="1400">
                  <a:solidFill>
                    <a:srgbClr val="1A1A19"/>
                  </a:solidFill>
                </a:rPr>
                <a:t>2 691 formations d'Île-de-France proposées sur Parcoursup en 2025. Une ligne = une formation dans un établissement : ses places, ses candidatures, ses admis.</a:t>
              </a:r>
            </a:p>
          </p:txBody>
        </p:sp>
        <p:sp>
          <p:nvSpPr>
            <p:cNvPr id="13" name="ZoneTexte 12">
              <a:extLst>
                <a:ext uri="{FF2B5EF4-FFF2-40B4-BE49-F238E27FC236}">
                  <a16:creationId xmlns:a16="http://schemas.microsoft.com/office/drawing/2014/main" id="{2B7C7379-B1A2-7203-7274-207F6E388A92}"/>
                </a:ext>
              </a:extLst>
            </p:cNvPr>
            <p:cNvSpPr txBox="1"/>
            <p:nvPr/>
          </p:nvSpPr>
          <p:spPr>
            <a:xfrm>
              <a:off x="812800" y="5664200"/>
              <a:ext cx="4927600" cy="381000"/>
            </a:xfrm>
            <a:prstGeom prst="rect">
              <a:avLst/>
            </a:prstGeom>
            <a:noFill/>
          </p:spPr>
          <p:txBody>
            <a:bodyPr vert="horz" wrap="square" lIns="0" tIns="0" rIns="0" bIns="0" rtlCol="0" anchor="t">
              <a:noAutofit/>
            </a:bodyPr>
            <a:lstStyle/>
            <a:p>
              <a:r>
                <a:rPr lang="fr-FR" sz="1050">
                  <a:solidFill>
                    <a:srgbClr val="52514E"/>
                  </a:solidFill>
                </a:rPr>
                <a:t>Source : data.enseignementsup-recherche.gouv.fr — Licence Ouverte, téléchargé le 12/10/2026.</a:t>
              </a:r>
            </a:p>
          </p:txBody>
        </p:sp>
      </p:grpSp>
      <p:grpSp>
        <p:nvGrpSpPr>
          <p:cNvPr id="18" name="Mes calculs">
            <a:extLst>
              <a:ext uri="{FF2B5EF4-FFF2-40B4-BE49-F238E27FC236}">
                <a16:creationId xmlns:a16="http://schemas.microsoft.com/office/drawing/2014/main" id="{E6AB5A51-985B-8493-1F70-15C3C50AC775}"/>
              </a:ext>
            </a:extLst>
          </p:cNvPr>
          <p:cNvGrpSpPr/>
          <p:nvPr/>
        </p:nvGrpSpPr>
        <p:grpSpPr>
          <a:xfrm>
            <a:off x="6197600" y="4089400"/>
            <a:ext cx="5435600" cy="2082800"/>
            <a:chOff x="6197600" y="4089400"/>
            <a:chExt cx="5435600" cy="2082800"/>
          </a:xfrm>
        </p:grpSpPr>
        <p:sp>
          <p:nvSpPr>
            <p:cNvPr id="15" name="Rectangle : coins arrondis 14">
              <a:extLst>
                <a:ext uri="{FF2B5EF4-FFF2-40B4-BE49-F238E27FC236}">
                  <a16:creationId xmlns:a16="http://schemas.microsoft.com/office/drawing/2014/main" id="{19117750-0403-B6A6-A5AC-3E6268F188BA}"/>
                </a:ext>
              </a:extLst>
            </p:cNvPr>
            <p:cNvSpPr/>
            <p:nvPr/>
          </p:nvSpPr>
          <p:spPr>
            <a:xfrm>
              <a:off x="6197600" y="4089400"/>
              <a:ext cx="5435600" cy="2082800"/>
            </a:xfrm>
            <a:prstGeom prst="roundRect">
              <a:avLst>
                <a:gd name="adj" fmla="val 6000"/>
              </a:avLst>
            </a:prstGeom>
            <a:solidFill>
              <a:srgbClr val="FCEF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F717E001-21EE-9079-B0C4-2BACD54F1BF7}"/>
                </a:ext>
              </a:extLst>
            </p:cNvPr>
            <p:cNvSpPr txBox="1"/>
            <p:nvPr/>
          </p:nvSpPr>
          <p:spPr>
            <a:xfrm>
              <a:off x="6451600" y="4279900"/>
              <a:ext cx="4927600" cy="203200"/>
            </a:xfrm>
            <a:prstGeom prst="rect">
              <a:avLst/>
            </a:prstGeom>
            <a:noFill/>
          </p:spPr>
          <p:txBody>
            <a:bodyPr vert="horz" wrap="square" lIns="0" tIns="0" rIns="0" bIns="0" rtlCol="0" anchor="t">
              <a:noAutofit/>
            </a:bodyPr>
            <a:lstStyle/>
            <a:p>
              <a:r>
                <a:rPr lang="fr-FR" sz="1100" b="1" spc="80">
                  <a:solidFill>
                    <a:srgbClr val="B8461A"/>
                  </a:solidFill>
                </a:rPr>
                <a:t>MES QUATRE CALCULS</a:t>
              </a:r>
            </a:p>
          </p:txBody>
        </p:sp>
        <p:sp>
          <p:nvSpPr>
            <p:cNvPr id="17" name="ZoneTexte 16">
              <a:extLst>
                <a:ext uri="{FF2B5EF4-FFF2-40B4-BE49-F238E27FC236}">
                  <a16:creationId xmlns:a16="http://schemas.microsoft.com/office/drawing/2014/main" id="{4AB2798B-2C30-94D0-5DA8-0BC8BD31ECBF}"/>
                </a:ext>
              </a:extLst>
            </p:cNvPr>
            <p:cNvSpPr txBox="1"/>
            <p:nvPr/>
          </p:nvSpPr>
          <p:spPr>
            <a:xfrm>
              <a:off x="6451600" y="4572000"/>
              <a:ext cx="4927600" cy="1473200"/>
            </a:xfrm>
            <a:prstGeom prst="rect">
              <a:avLst/>
            </a:prstGeom>
            <a:noFill/>
          </p:spPr>
          <p:txBody>
            <a:bodyPr vert="horz" wrap="square" lIns="0" tIns="0" rIns="0" bIns="0" rtlCol="0" anchor="t">
              <a:noAutofit/>
            </a:bodyPr>
            <a:lstStyle/>
            <a:p>
              <a:pPr>
                <a:spcAft>
                  <a:spcPts val="700"/>
                </a:spcAft>
              </a:pPr>
              <a:r>
                <a:rPr lang="fr-FR" sz="1300" b="1">
                  <a:solidFill>
                    <a:srgbClr val="1A1A19"/>
                  </a:solidFill>
                </a:rPr>
                <a:t>Zone</a:t>
              </a:r>
              <a:r>
                <a:rPr lang="fr-FR" sz="1300">
                  <a:solidFill>
                    <a:srgbClr val="52514E"/>
                  </a:solidFill>
                </a:rPr>
                <a:t> — RECHERCHEV sur le code du département</a:t>
              </a:r>
            </a:p>
            <a:p>
              <a:pPr>
                <a:spcAft>
                  <a:spcPts val="700"/>
                </a:spcAft>
              </a:pPr>
              <a:r>
                <a:rPr lang="fr-FR" sz="1300" b="1">
                  <a:solidFill>
                    <a:srgbClr val="1A1A19"/>
                  </a:solidFill>
                </a:rPr>
                <a:t>Candidatures par place</a:t>
              </a:r>
              <a:r>
                <a:rPr lang="fr-FR" sz="1300">
                  <a:solidFill>
                    <a:srgbClr val="52514E"/>
                  </a:solidFill>
                </a:rPr>
                <a:t> — candidatures ÷ places (SIERREUR)</a:t>
              </a:r>
            </a:p>
            <a:p>
              <a:pPr>
                <a:spcAft>
                  <a:spcPts val="700"/>
                </a:spcAft>
              </a:pPr>
              <a:r>
                <a:rPr lang="fr-FR" sz="1300" b="1">
                  <a:solidFill>
                    <a:srgbClr val="1A1A19"/>
                  </a:solidFill>
                </a:rPr>
                <a:t>Taux de remplissage</a:t>
              </a:r>
              <a:r>
                <a:rPr lang="fr-FR" sz="1300">
                  <a:solidFill>
                    <a:srgbClr val="52514E"/>
                  </a:solidFill>
                </a:rPr>
                <a:t> — admis ÷ places</a:t>
              </a:r>
            </a:p>
            <a:p>
              <a:pPr>
                <a:spcAft>
                  <a:spcPts val="700"/>
                </a:spcAft>
              </a:pPr>
              <a:r>
                <a:rPr lang="fr-FR" sz="1300" b="1">
                  <a:solidFill>
                    <a:srgbClr val="1A1A19"/>
                  </a:solidFill>
                </a:rPr>
                <a:t>Niveau de tension</a:t>
              </a:r>
              <a:r>
                <a:rPr lang="fr-FR" sz="1300">
                  <a:solidFill>
                    <a:srgbClr val="52514E"/>
                  </a:solidFill>
                </a:rPr>
                <a:t> — SI imbriqués, de Faible à Très forte</a:t>
              </a:r>
            </a:p>
          </p:txBody>
        </p:sp>
      </p:grpSp>
      <p:sp>
        <p:nvSpPr>
          <p:cNvPr id="19" name="Espace réservé du pied de page 18">
            <a:extLst>
              <a:ext uri="{FF2B5EF4-FFF2-40B4-BE49-F238E27FC236}">
                <a16:creationId xmlns:a16="http://schemas.microsoft.com/office/drawing/2014/main" id="{07ED1FBA-2F91-2F79-D2BF-CEE0A442DAD1}"/>
              </a:ext>
            </a:extLst>
          </p:cNvPr>
          <p:cNvSpPr>
            <a:spLocks noGrp="1"/>
          </p:cNvSpPr>
          <p:nvPr>
            <p:ph type="ftr" sz="quarter" idx="11"/>
          </p:nvPr>
        </p:nvSpPr>
        <p:spPr/>
        <p:txBody>
          <a:bodyPr/>
          <a:lstStyle/>
          <a:p>
            <a:r>
              <a:rPr lang="fr-FR"/>
              <a:t>[NOM Prénom] · [N° étudiant]  —  Parcoursup 2025 en Île-de-France  ·  Année universitaire 2026-2027</a:t>
            </a:r>
          </a:p>
        </p:txBody>
      </p:sp>
      <p:sp>
        <p:nvSpPr>
          <p:cNvPr id="20" name="Espace réservé du numéro de diapositive 19">
            <a:extLst>
              <a:ext uri="{FF2B5EF4-FFF2-40B4-BE49-F238E27FC236}">
                <a16:creationId xmlns:a16="http://schemas.microsoft.com/office/drawing/2014/main" id="{D8C8EE00-88A7-7CD7-CD43-EBC803EC3C6D}"/>
              </a:ext>
            </a:extLst>
          </p:cNvPr>
          <p:cNvSpPr>
            <a:spLocks noGrp="1"/>
          </p:cNvSpPr>
          <p:nvPr>
            <p:ph type="sldNum" sz="quarter" idx="12"/>
          </p:nvPr>
        </p:nvSpPr>
        <p:spPr/>
        <p:txBody>
          <a:bodyPr/>
          <a:lstStyle/>
          <a:p>
            <a:fld id="{36104FB3-7E88-4A46-91BF-2C302A5CE104}" type="slidenum">
              <a:rPr lang="fr-FR" smtClean="0"/>
              <a:t>3</a:t>
            </a:fld>
            <a:endParaRPr lang="fr-FR"/>
          </a:p>
        </p:txBody>
      </p:sp>
    </p:spTree>
    <p:extLst>
      <p:ext uri="{BB962C8B-B14F-4D97-AF65-F5344CB8AC3E}">
        <p14:creationId xmlns:p14="http://schemas.microsoft.com/office/powerpoint/2010/main" val="1800819338"/>
      </p:ext>
    </p:extLst>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4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nodeType="withEffect">
                                  <p:stCondLst>
                                    <p:cond delay="120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600"/>
                                        <p:tgtEl>
                                          <p:spTgt spid="9"/>
                                        </p:tgtEl>
                                      </p:cBhvr>
                                    </p:animEffect>
                                  </p:childTnLst>
                                </p:cTn>
                              </p:par>
                              <p:par>
                                <p:cTn id="11" presetID="47" presetClass="entr" presetSubtype="0" fill="hold" nodeType="withEffect">
                                  <p:stCondLst>
                                    <p:cond delay="250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600"/>
                                        <p:tgtEl>
                                          <p:spTgt spid="14"/>
                                        </p:tgtEl>
                                      </p:cBhvr>
                                    </p:animEffect>
                                    <p:anim calcmode="lin" valueType="num">
                                      <p:cBhvr>
                                        <p:cTn id="14" dur="600" fill="hold"/>
                                        <p:tgtEl>
                                          <p:spTgt spid="14"/>
                                        </p:tgtEl>
                                        <p:attrNameLst>
                                          <p:attrName>ppt_x</p:attrName>
                                        </p:attrNameLst>
                                      </p:cBhvr>
                                      <p:tavLst>
                                        <p:tav tm="0">
                                          <p:val>
                                            <p:strVal val="#ppt_x"/>
                                          </p:val>
                                        </p:tav>
                                        <p:tav tm="100000">
                                          <p:val>
                                            <p:strVal val="#ppt_x"/>
                                          </p:val>
                                        </p:tav>
                                      </p:tavLst>
                                    </p:anim>
                                    <p:anim calcmode="lin" valueType="num">
                                      <p:cBhvr>
                                        <p:cTn id="15" dur="600" fill="hold"/>
                                        <p:tgtEl>
                                          <p:spTgt spid="14"/>
                                        </p:tgtEl>
                                        <p:attrNameLst>
                                          <p:attrName>ppt_y</p:attrName>
                                        </p:attrNameLst>
                                      </p:cBhvr>
                                      <p:tavLst>
                                        <p:tav tm="0">
                                          <p:val>
                                            <p:strVal val="#ppt_y-.1"/>
                                          </p:val>
                                        </p:tav>
                                        <p:tav tm="100000">
                                          <p:val>
                                            <p:strVal val="#ppt_y"/>
                                          </p:val>
                                        </p:tav>
                                      </p:tavLst>
                                    </p:anim>
                                  </p:childTnLst>
                                </p:cTn>
                              </p:par>
                              <p:par>
                                <p:cTn id="16" presetID="47" presetClass="entr" presetSubtype="0" fill="hold" nodeType="withEffect">
                                  <p:stCondLst>
                                    <p:cond delay="1200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600"/>
                                        <p:tgtEl>
                                          <p:spTgt spid="18"/>
                                        </p:tgtEl>
                                      </p:cBhvr>
                                    </p:animEffect>
                                    <p:anim calcmode="lin" valueType="num">
                                      <p:cBhvr>
                                        <p:cTn id="19" dur="600" fill="hold"/>
                                        <p:tgtEl>
                                          <p:spTgt spid="18"/>
                                        </p:tgtEl>
                                        <p:attrNameLst>
                                          <p:attrName>ppt_x</p:attrName>
                                        </p:attrNameLst>
                                      </p:cBhvr>
                                      <p:tavLst>
                                        <p:tav tm="0">
                                          <p:val>
                                            <p:strVal val="#ppt_x"/>
                                          </p:val>
                                        </p:tav>
                                        <p:tav tm="100000">
                                          <p:val>
                                            <p:strVal val="#ppt_x"/>
                                          </p:val>
                                        </p:tav>
                                      </p:tavLst>
                                    </p:anim>
                                    <p:anim calcmode="lin" valueType="num">
                                      <p:cBhvr>
                                        <p:cTn id="20" dur="6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869A61-CEDA-B5BD-75F6-E5E2FF3F0A42}"/>
              </a:ext>
            </a:extLst>
          </p:cNvPr>
          <p:cNvSpPr>
            <a:spLocks noGrp="1"/>
          </p:cNvSpPr>
          <p:nvPr>
            <p:ph type="title"/>
          </p:nvPr>
        </p:nvSpPr>
        <p:spPr/>
        <p:txBody>
          <a:bodyPr/>
          <a:lstStyle/>
          <a:p>
            <a:r>
              <a:rPr lang="fr-FR"/>
              <a:t>Tri et filtre : le cas de mon université</a:t>
            </a:r>
          </a:p>
        </p:txBody>
      </p:sp>
      <p:grpSp>
        <p:nvGrpSpPr>
          <p:cNvPr id="6" name="Chiffre 1">
            <a:extLst>
              <a:ext uri="{FF2B5EF4-FFF2-40B4-BE49-F238E27FC236}">
                <a16:creationId xmlns:a16="http://schemas.microsoft.com/office/drawing/2014/main" id="{865A2DE3-F588-8419-6918-39F4BCB13E72}"/>
              </a:ext>
            </a:extLst>
          </p:cNvPr>
          <p:cNvGrpSpPr/>
          <p:nvPr/>
        </p:nvGrpSpPr>
        <p:grpSpPr>
          <a:xfrm>
            <a:off x="558800" y="1295400"/>
            <a:ext cx="3556000" cy="1143000"/>
            <a:chOff x="558800" y="1295400"/>
            <a:chExt cx="3556000" cy="1143000"/>
          </a:xfrm>
        </p:grpSpPr>
        <p:sp>
          <p:nvSpPr>
            <p:cNvPr id="3" name="Rectangle : coins arrondis 2">
              <a:extLst>
                <a:ext uri="{FF2B5EF4-FFF2-40B4-BE49-F238E27FC236}">
                  <a16:creationId xmlns:a16="http://schemas.microsoft.com/office/drawing/2014/main" id="{06EE1DB6-9D54-36C7-E242-C712E330492B}"/>
                </a:ext>
              </a:extLst>
            </p:cNvPr>
            <p:cNvSpPr/>
            <p:nvPr/>
          </p:nvSpPr>
          <p:spPr>
            <a:xfrm>
              <a:off x="558800" y="1295400"/>
              <a:ext cx="3556000" cy="1143000"/>
            </a:xfrm>
            <a:prstGeom prst="roundRect">
              <a:avLst>
                <a:gd name="adj" fmla="val 10000"/>
              </a:avLst>
            </a:prstGeom>
            <a:solidFill>
              <a:srgbClr val="F1F5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F02710C1-52C8-4BB3-AB1C-DF2DE333D379}"/>
                </a:ext>
              </a:extLst>
            </p:cNvPr>
            <p:cNvSpPr txBox="1"/>
            <p:nvPr/>
          </p:nvSpPr>
          <p:spPr>
            <a:xfrm>
              <a:off x="787400" y="1371600"/>
              <a:ext cx="3098800" cy="482600"/>
            </a:xfrm>
            <a:prstGeom prst="rect">
              <a:avLst/>
            </a:prstGeom>
            <a:noFill/>
          </p:spPr>
          <p:txBody>
            <a:bodyPr vert="horz" wrap="square" lIns="0" tIns="0" rIns="0" bIns="0" rtlCol="0" anchor="t">
              <a:noAutofit/>
            </a:bodyPr>
            <a:lstStyle/>
            <a:p>
              <a:r>
                <a:rPr lang="fr-FR" sz="2800" b="1">
                  <a:solidFill>
                    <a:srgbClr val="12284C"/>
                  </a:solidFill>
                </a:rPr>
                <a:t>87 formations</a:t>
              </a:r>
            </a:p>
          </p:txBody>
        </p:sp>
        <p:sp>
          <p:nvSpPr>
            <p:cNvPr id="5" name="ZoneTexte 4">
              <a:extLst>
                <a:ext uri="{FF2B5EF4-FFF2-40B4-BE49-F238E27FC236}">
                  <a16:creationId xmlns:a16="http://schemas.microsoft.com/office/drawing/2014/main" id="{D964C8F0-6A76-2343-E5E1-2354F93CD776}"/>
                </a:ext>
              </a:extLst>
            </p:cNvPr>
            <p:cNvSpPr txBox="1"/>
            <p:nvPr/>
          </p:nvSpPr>
          <p:spPr>
            <a:xfrm>
              <a:off x="787400" y="1879600"/>
              <a:ext cx="3098800" cy="457200"/>
            </a:xfrm>
            <a:prstGeom prst="rect">
              <a:avLst/>
            </a:prstGeom>
            <a:noFill/>
          </p:spPr>
          <p:txBody>
            <a:bodyPr vert="horz" wrap="square" lIns="0" tIns="0" rIns="0" bIns="0" rtlCol="0" anchor="t">
              <a:noAutofit/>
            </a:bodyPr>
            <a:lstStyle/>
            <a:p>
              <a:r>
                <a:rPr lang="fr-FR" sz="1200">
                  <a:solidFill>
                    <a:srgbClr val="52514E"/>
                  </a:solidFill>
                </a:rPr>
                <a:t>extraites par filtre avancé : celles de l'Université Paris Nanterre</a:t>
              </a:r>
            </a:p>
          </p:txBody>
        </p:sp>
      </p:grpSp>
      <p:grpSp>
        <p:nvGrpSpPr>
          <p:cNvPr id="10" name="Chiffre 2">
            <a:extLst>
              <a:ext uri="{FF2B5EF4-FFF2-40B4-BE49-F238E27FC236}">
                <a16:creationId xmlns:a16="http://schemas.microsoft.com/office/drawing/2014/main" id="{3350D2FC-9112-73B2-E10E-792ADB41B525}"/>
              </a:ext>
            </a:extLst>
          </p:cNvPr>
          <p:cNvGrpSpPr/>
          <p:nvPr/>
        </p:nvGrpSpPr>
        <p:grpSpPr>
          <a:xfrm>
            <a:off x="4318000" y="1295400"/>
            <a:ext cx="3556000" cy="1143000"/>
            <a:chOff x="4318000" y="1295400"/>
            <a:chExt cx="3556000" cy="1143000"/>
          </a:xfrm>
        </p:grpSpPr>
        <p:sp>
          <p:nvSpPr>
            <p:cNvPr id="7" name="Rectangle : coins arrondis 6">
              <a:extLst>
                <a:ext uri="{FF2B5EF4-FFF2-40B4-BE49-F238E27FC236}">
                  <a16:creationId xmlns:a16="http://schemas.microsoft.com/office/drawing/2014/main" id="{45BBEB79-B8E9-8243-5046-D93AB3BC8168}"/>
                </a:ext>
              </a:extLst>
            </p:cNvPr>
            <p:cNvSpPr/>
            <p:nvPr/>
          </p:nvSpPr>
          <p:spPr>
            <a:xfrm>
              <a:off x="4318000" y="1295400"/>
              <a:ext cx="3556000" cy="1143000"/>
            </a:xfrm>
            <a:prstGeom prst="roundRect">
              <a:avLst>
                <a:gd name="adj" fmla="val 10000"/>
              </a:avLst>
            </a:prstGeom>
            <a:solidFill>
              <a:srgbClr val="F1F5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EF6CDE12-F7C9-F6A8-4BC5-4DBA1CE109A2}"/>
                </a:ext>
              </a:extLst>
            </p:cNvPr>
            <p:cNvSpPr txBox="1"/>
            <p:nvPr/>
          </p:nvSpPr>
          <p:spPr>
            <a:xfrm>
              <a:off x="4546600" y="1371600"/>
              <a:ext cx="3098800" cy="482600"/>
            </a:xfrm>
            <a:prstGeom prst="rect">
              <a:avLst/>
            </a:prstGeom>
            <a:noFill/>
          </p:spPr>
          <p:txBody>
            <a:bodyPr vert="horz" wrap="square" lIns="0" tIns="0" rIns="0" bIns="0" rtlCol="0" anchor="t">
              <a:noAutofit/>
            </a:bodyPr>
            <a:lstStyle/>
            <a:p>
              <a:r>
                <a:rPr lang="fr-FR" sz="2800" b="1">
                  <a:solidFill>
                    <a:srgbClr val="12284C"/>
                  </a:solidFill>
                </a:rPr>
                <a:t>19,8</a:t>
              </a:r>
            </a:p>
          </p:txBody>
        </p:sp>
        <p:sp>
          <p:nvSpPr>
            <p:cNvPr id="9" name="ZoneTexte 8">
              <a:extLst>
                <a:ext uri="{FF2B5EF4-FFF2-40B4-BE49-F238E27FC236}">
                  <a16:creationId xmlns:a16="http://schemas.microsoft.com/office/drawing/2014/main" id="{F7C83EDC-4EC6-A856-E477-3235BE2B9AD8}"/>
                </a:ext>
              </a:extLst>
            </p:cNvPr>
            <p:cNvSpPr txBox="1"/>
            <p:nvPr/>
          </p:nvSpPr>
          <p:spPr>
            <a:xfrm>
              <a:off x="4546600" y="1879600"/>
              <a:ext cx="3098800" cy="457200"/>
            </a:xfrm>
            <a:prstGeom prst="rect">
              <a:avLst/>
            </a:prstGeom>
            <a:noFill/>
          </p:spPr>
          <p:txBody>
            <a:bodyPr vert="horz" wrap="square" lIns="0" tIns="0" rIns="0" bIns="0" rtlCol="0" anchor="t">
              <a:noAutofit/>
            </a:bodyPr>
            <a:lstStyle/>
            <a:p>
              <a:r>
                <a:rPr lang="fr-FR" sz="1200">
                  <a:solidFill>
                    <a:srgbClr val="52514E"/>
                  </a:solidFill>
                </a:rPr>
                <a:t>candidatures par place en moyenne, contre 27,4 dans toute l'Île-de-France</a:t>
              </a:r>
            </a:p>
          </p:txBody>
        </p:sp>
      </p:grpSp>
      <p:grpSp>
        <p:nvGrpSpPr>
          <p:cNvPr id="14" name="Chiffre 3">
            <a:extLst>
              <a:ext uri="{FF2B5EF4-FFF2-40B4-BE49-F238E27FC236}">
                <a16:creationId xmlns:a16="http://schemas.microsoft.com/office/drawing/2014/main" id="{7660514E-07BB-4A94-91E0-C52A78043819}"/>
              </a:ext>
            </a:extLst>
          </p:cNvPr>
          <p:cNvGrpSpPr/>
          <p:nvPr/>
        </p:nvGrpSpPr>
        <p:grpSpPr>
          <a:xfrm>
            <a:off x="8077200" y="1295400"/>
            <a:ext cx="3556000" cy="1143000"/>
            <a:chOff x="8077200" y="1295400"/>
            <a:chExt cx="3556000" cy="1143000"/>
          </a:xfrm>
        </p:grpSpPr>
        <p:sp>
          <p:nvSpPr>
            <p:cNvPr id="11" name="Rectangle : coins arrondis 10">
              <a:extLst>
                <a:ext uri="{FF2B5EF4-FFF2-40B4-BE49-F238E27FC236}">
                  <a16:creationId xmlns:a16="http://schemas.microsoft.com/office/drawing/2014/main" id="{178B61C5-0A7E-116E-4847-43154533FD23}"/>
                </a:ext>
              </a:extLst>
            </p:cNvPr>
            <p:cNvSpPr/>
            <p:nvPr/>
          </p:nvSpPr>
          <p:spPr>
            <a:xfrm>
              <a:off x="8077200" y="1295400"/>
              <a:ext cx="3556000" cy="1143000"/>
            </a:xfrm>
            <a:prstGeom prst="roundRect">
              <a:avLst>
                <a:gd name="adj" fmla="val 10000"/>
              </a:avLst>
            </a:prstGeom>
            <a:solidFill>
              <a:srgbClr val="FCEF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4BC88732-195C-221C-7AEC-7AA5A7740616}"/>
                </a:ext>
              </a:extLst>
            </p:cNvPr>
            <p:cNvSpPr txBox="1"/>
            <p:nvPr/>
          </p:nvSpPr>
          <p:spPr>
            <a:xfrm>
              <a:off x="8305800" y="1371600"/>
              <a:ext cx="3098800" cy="482600"/>
            </a:xfrm>
            <a:prstGeom prst="rect">
              <a:avLst/>
            </a:prstGeom>
            <a:noFill/>
          </p:spPr>
          <p:txBody>
            <a:bodyPr vert="horz" wrap="square" lIns="0" tIns="0" rIns="0" bIns="0" rtlCol="0" anchor="t">
              <a:noAutofit/>
            </a:bodyPr>
            <a:lstStyle/>
            <a:p>
              <a:r>
                <a:rPr lang="fr-FR" sz="2800" b="1">
                  <a:solidFill>
                    <a:srgbClr val="12284C"/>
                  </a:solidFill>
                </a:rPr>
                <a:t>41e sur 87</a:t>
              </a:r>
            </a:p>
          </p:txBody>
        </p:sp>
        <p:sp>
          <p:nvSpPr>
            <p:cNvPr id="13" name="ZoneTexte 12">
              <a:extLst>
                <a:ext uri="{FF2B5EF4-FFF2-40B4-BE49-F238E27FC236}">
                  <a16:creationId xmlns:a16="http://schemas.microsoft.com/office/drawing/2014/main" id="{52BB35B3-E633-44B7-0596-8F08C5590CA9}"/>
                </a:ext>
              </a:extLst>
            </p:cNvPr>
            <p:cNvSpPr txBox="1"/>
            <p:nvPr/>
          </p:nvSpPr>
          <p:spPr>
            <a:xfrm>
              <a:off x="8305800" y="1879600"/>
              <a:ext cx="3098800" cy="457200"/>
            </a:xfrm>
            <a:prstGeom prst="rect">
              <a:avLst/>
            </a:prstGeom>
            <a:noFill/>
          </p:spPr>
          <p:txBody>
            <a:bodyPr vert="horz" wrap="square" lIns="0" tIns="0" rIns="0" bIns="0" rtlCol="0" anchor="t">
              <a:noAutofit/>
            </a:bodyPr>
            <a:lstStyle/>
            <a:p>
              <a:r>
                <a:rPr lang="fr-FR" sz="1200">
                  <a:solidFill>
                    <a:srgbClr val="52514E"/>
                  </a:solidFill>
                </a:rPr>
                <a:t>le rang de ma licence, MIASHS, avec 19,2 candidatures par place</a:t>
              </a:r>
            </a:p>
          </p:txBody>
        </p:sp>
      </p:grpSp>
      <p:pic>
        <p:nvPicPr>
          <p:cNvPr id="16" name="Image 15" descr="Capture d'écran de la feuille Zoom Paris Nanterre : zone de critères du filtre avancé, puis les formations de l'université triées de la plus demandée à la moins demandée.">
            <a:extLst>
              <a:ext uri="{FF2B5EF4-FFF2-40B4-BE49-F238E27FC236}">
                <a16:creationId xmlns:a16="http://schemas.microsoft.com/office/drawing/2014/main" id="{0B9F5705-0F64-282A-765D-33890AC8CA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2616200"/>
            <a:ext cx="10820400" cy="3506470"/>
          </a:xfrm>
          <a:prstGeom prst="rect">
            <a:avLst/>
          </a:prstGeom>
          <a:ln w="9525">
            <a:solidFill>
              <a:srgbClr val="D9DEE7"/>
            </a:solidFill>
          </a:ln>
          <a:effectLst>
            <a:outerShdw blurRad="177800" dist="50800" dir="5400000" rotWithShape="0">
              <a:srgbClr val="000000">
                <a:alpha val="22000"/>
              </a:srgbClr>
            </a:outerShdw>
          </a:effectLst>
        </p:spPr>
      </p:pic>
      <p:sp>
        <p:nvSpPr>
          <p:cNvPr id="17" name="Espace réservé du pied de page 16">
            <a:extLst>
              <a:ext uri="{FF2B5EF4-FFF2-40B4-BE49-F238E27FC236}">
                <a16:creationId xmlns:a16="http://schemas.microsoft.com/office/drawing/2014/main" id="{2ACDA80B-5D3F-7E8A-5538-5F42F4BC1CBF}"/>
              </a:ext>
            </a:extLst>
          </p:cNvPr>
          <p:cNvSpPr>
            <a:spLocks noGrp="1"/>
          </p:cNvSpPr>
          <p:nvPr>
            <p:ph type="ftr" sz="quarter" idx="11"/>
          </p:nvPr>
        </p:nvSpPr>
        <p:spPr/>
        <p:txBody>
          <a:bodyPr/>
          <a:lstStyle/>
          <a:p>
            <a:r>
              <a:rPr lang="fr-FR"/>
              <a:t>[NOM Prénom] · [N° étudiant]  —  Parcoursup 2025 en Île-de-France  ·  Année universitaire 2026-2027</a:t>
            </a:r>
          </a:p>
        </p:txBody>
      </p:sp>
      <p:sp>
        <p:nvSpPr>
          <p:cNvPr id="18" name="Espace réservé du numéro de diapositive 17">
            <a:extLst>
              <a:ext uri="{FF2B5EF4-FFF2-40B4-BE49-F238E27FC236}">
                <a16:creationId xmlns:a16="http://schemas.microsoft.com/office/drawing/2014/main" id="{94F48B04-965E-85DF-9C85-CC2471D86AEF}"/>
              </a:ext>
            </a:extLst>
          </p:cNvPr>
          <p:cNvSpPr>
            <a:spLocks noGrp="1"/>
          </p:cNvSpPr>
          <p:nvPr>
            <p:ph type="sldNum" sz="quarter" idx="12"/>
          </p:nvPr>
        </p:nvSpPr>
        <p:spPr/>
        <p:txBody>
          <a:bodyPr/>
          <a:lstStyle/>
          <a:p>
            <a:fld id="{36104FB3-7E88-4A46-91BF-2C302A5CE104}" type="slidenum">
              <a:rPr lang="fr-FR" smtClean="0"/>
              <a:t>4</a:t>
            </a:fld>
            <a:endParaRPr lang="fr-FR"/>
          </a:p>
        </p:txBody>
      </p:sp>
    </p:spTree>
    <p:extLst>
      <p:ext uri="{BB962C8B-B14F-4D97-AF65-F5344CB8AC3E}">
        <p14:creationId xmlns:p14="http://schemas.microsoft.com/office/powerpoint/2010/main" val="2246514721"/>
      </p:ext>
    </p:extLst>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35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anim calcmode="lin" valueType="num">
                                      <p:cBhvr>
                                        <p:cTn id="8" dur="600" fill="hold"/>
                                        <p:tgtEl>
                                          <p:spTgt spid="6"/>
                                        </p:tgtEl>
                                        <p:attrNameLst>
                                          <p:attrName>ppt_x</p:attrName>
                                        </p:attrNameLst>
                                      </p:cBhvr>
                                      <p:tavLst>
                                        <p:tav tm="0">
                                          <p:val>
                                            <p:strVal val="#ppt_x"/>
                                          </p:val>
                                        </p:tav>
                                        <p:tav tm="100000">
                                          <p:val>
                                            <p:strVal val="#ppt_x"/>
                                          </p:val>
                                        </p:tav>
                                      </p:tavLst>
                                    </p:anim>
                                    <p:anim calcmode="lin" valueType="num">
                                      <p:cBhvr>
                                        <p:cTn id="9" dur="600" fill="hold"/>
                                        <p:tgtEl>
                                          <p:spTgt spid="6"/>
                                        </p:tgtEl>
                                        <p:attrNameLst>
                                          <p:attrName>ppt_y</p:attrName>
                                        </p:attrNameLst>
                                      </p:cBhvr>
                                      <p:tavLst>
                                        <p:tav tm="0">
                                          <p:val>
                                            <p:strVal val="#ppt_y-.1"/>
                                          </p:val>
                                        </p:tav>
                                        <p:tav tm="100000">
                                          <p:val>
                                            <p:strVal val="#ppt_y"/>
                                          </p:val>
                                        </p:tav>
                                      </p:tavLst>
                                    </p:anim>
                                  </p:childTnLst>
                                </p:cTn>
                              </p:par>
                              <p:par>
                                <p:cTn id="10" presetID="10" presetClass="entr" presetSubtype="0" fill="hold" nodeType="withEffect">
                                  <p:stCondLst>
                                    <p:cond delay="800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600"/>
                                        <p:tgtEl>
                                          <p:spTgt spid="16"/>
                                        </p:tgtEl>
                                      </p:cBhvr>
                                    </p:animEffect>
                                  </p:childTnLst>
                                </p:cTn>
                              </p:par>
                              <p:par>
                                <p:cTn id="13" presetID="47" presetClass="entr" presetSubtype="0" fill="hold" nodeType="withEffect">
                                  <p:stCondLst>
                                    <p:cond delay="1300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600"/>
                                        <p:tgtEl>
                                          <p:spTgt spid="10"/>
                                        </p:tgtEl>
                                      </p:cBhvr>
                                    </p:animEffect>
                                    <p:anim calcmode="lin" valueType="num">
                                      <p:cBhvr>
                                        <p:cTn id="16" dur="600" fill="hold"/>
                                        <p:tgtEl>
                                          <p:spTgt spid="10"/>
                                        </p:tgtEl>
                                        <p:attrNameLst>
                                          <p:attrName>ppt_x</p:attrName>
                                        </p:attrNameLst>
                                      </p:cBhvr>
                                      <p:tavLst>
                                        <p:tav tm="0">
                                          <p:val>
                                            <p:strVal val="#ppt_x"/>
                                          </p:val>
                                        </p:tav>
                                        <p:tav tm="100000">
                                          <p:val>
                                            <p:strVal val="#ppt_x"/>
                                          </p:val>
                                        </p:tav>
                                      </p:tavLst>
                                    </p:anim>
                                    <p:anim calcmode="lin" valueType="num">
                                      <p:cBhvr>
                                        <p:cTn id="17" dur="600" fill="hold"/>
                                        <p:tgtEl>
                                          <p:spTgt spid="10"/>
                                        </p:tgtEl>
                                        <p:attrNameLst>
                                          <p:attrName>ppt_y</p:attrName>
                                        </p:attrNameLst>
                                      </p:cBhvr>
                                      <p:tavLst>
                                        <p:tav tm="0">
                                          <p:val>
                                            <p:strVal val="#ppt_y-.1"/>
                                          </p:val>
                                        </p:tav>
                                        <p:tav tm="100000">
                                          <p:val>
                                            <p:strVal val="#ppt_y"/>
                                          </p:val>
                                        </p:tav>
                                      </p:tavLst>
                                    </p:anim>
                                  </p:childTnLst>
                                </p:cTn>
                              </p:par>
                              <p:par>
                                <p:cTn id="18" presetID="47" presetClass="entr" presetSubtype="0" fill="hold" nodeType="withEffect">
                                  <p:stCondLst>
                                    <p:cond delay="190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600"/>
                                        <p:tgtEl>
                                          <p:spTgt spid="14"/>
                                        </p:tgtEl>
                                      </p:cBhvr>
                                    </p:animEffect>
                                    <p:anim calcmode="lin" valueType="num">
                                      <p:cBhvr>
                                        <p:cTn id="21" dur="600" fill="hold"/>
                                        <p:tgtEl>
                                          <p:spTgt spid="14"/>
                                        </p:tgtEl>
                                        <p:attrNameLst>
                                          <p:attrName>ppt_x</p:attrName>
                                        </p:attrNameLst>
                                      </p:cBhvr>
                                      <p:tavLst>
                                        <p:tav tm="0">
                                          <p:val>
                                            <p:strVal val="#ppt_x"/>
                                          </p:val>
                                        </p:tav>
                                        <p:tav tm="100000">
                                          <p:val>
                                            <p:strVal val="#ppt_x"/>
                                          </p:val>
                                        </p:tav>
                                      </p:tavLst>
                                    </p:anim>
                                    <p:anim calcmode="lin" valueType="num">
                                      <p:cBhvr>
                                        <p:cTn id="22" dur="6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CCFC38-4B64-0C8E-A601-5B46E424E267}"/>
              </a:ext>
            </a:extLst>
          </p:cNvPr>
          <p:cNvSpPr>
            <a:spLocks noGrp="1"/>
          </p:cNvSpPr>
          <p:nvPr>
            <p:ph type="title"/>
          </p:nvPr>
        </p:nvSpPr>
        <p:spPr/>
        <p:txBody>
          <a:bodyPr/>
          <a:lstStyle/>
          <a:p>
            <a:r>
              <a:rPr lang="fr-FR"/>
              <a:t>Le tableau de synthèse</a:t>
            </a:r>
          </a:p>
        </p:txBody>
      </p:sp>
      <p:pic>
        <p:nvPicPr>
          <p:cNvPr id="4" name="Image 3" descr="Capture d'écran du tableau croisé dynamique : pour chaque filière, nombre de formations, somme des places, somme des candidatures et candidatures par place.">
            <a:extLst>
              <a:ext uri="{FF2B5EF4-FFF2-40B4-BE49-F238E27FC236}">
                <a16:creationId xmlns:a16="http://schemas.microsoft.com/office/drawing/2014/main" id="{58D81050-EAB4-687A-8802-F535AC9B40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800" y="1320800"/>
            <a:ext cx="6604000" cy="3728720"/>
          </a:xfrm>
          <a:prstGeom prst="rect">
            <a:avLst/>
          </a:prstGeom>
          <a:ln w="9525">
            <a:solidFill>
              <a:srgbClr val="D9DEE7"/>
            </a:solidFill>
          </a:ln>
          <a:effectLst>
            <a:outerShdw blurRad="177800" dist="50800" dir="5400000" rotWithShape="0">
              <a:srgbClr val="000000">
                <a:alpha val="22000"/>
              </a:srgbClr>
            </a:outerShdw>
          </a:effectLst>
        </p:spPr>
      </p:pic>
      <p:sp>
        <p:nvSpPr>
          <p:cNvPr id="5" name="ZoneTexte 4">
            <a:extLst>
              <a:ext uri="{FF2B5EF4-FFF2-40B4-BE49-F238E27FC236}">
                <a16:creationId xmlns:a16="http://schemas.microsoft.com/office/drawing/2014/main" id="{E5A5E5B5-CEA6-0213-E49B-A4E2A8AD6DA7}"/>
              </a:ext>
            </a:extLst>
          </p:cNvPr>
          <p:cNvSpPr txBox="1"/>
          <p:nvPr/>
        </p:nvSpPr>
        <p:spPr>
          <a:xfrm>
            <a:off x="558800" y="5181600"/>
            <a:ext cx="6604000" cy="609600"/>
          </a:xfrm>
          <a:prstGeom prst="rect">
            <a:avLst/>
          </a:prstGeom>
          <a:noFill/>
        </p:spPr>
        <p:txBody>
          <a:bodyPr vert="horz" wrap="square" lIns="0" tIns="0" rIns="0" bIns="0" rtlCol="0" anchor="t">
            <a:noAutofit/>
          </a:bodyPr>
          <a:lstStyle/>
          <a:p>
            <a:r>
              <a:rPr lang="fr-FR" sz="1150">
                <a:solidFill>
                  <a:srgbClr val="52514E"/>
                </a:solidFill>
              </a:rPr>
              <a:t>Feuille « TCD » : tableau croisé dynamique par filière, trié de la plus demandée à la moins demandée. Le champ calculé « Cand. par place » divise les candidatures par les places.</a:t>
            </a:r>
          </a:p>
        </p:txBody>
      </p:sp>
      <p:grpSp>
        <p:nvGrpSpPr>
          <p:cNvPr id="8" name="Lecture du tableau">
            <a:extLst>
              <a:ext uri="{FF2B5EF4-FFF2-40B4-BE49-F238E27FC236}">
                <a16:creationId xmlns:a16="http://schemas.microsoft.com/office/drawing/2014/main" id="{5CC2C611-2F2B-C470-BC5B-5E0C8B35C870}"/>
              </a:ext>
            </a:extLst>
          </p:cNvPr>
          <p:cNvGrpSpPr/>
          <p:nvPr/>
        </p:nvGrpSpPr>
        <p:grpSpPr>
          <a:xfrm>
            <a:off x="7467600" y="1371600"/>
            <a:ext cx="4165600" cy="1701800"/>
            <a:chOff x="7467600" y="1371600"/>
            <a:chExt cx="4165600" cy="1701800"/>
          </a:xfrm>
        </p:grpSpPr>
        <p:sp>
          <p:nvSpPr>
            <p:cNvPr id="6" name="ZoneTexte 5">
              <a:extLst>
                <a:ext uri="{FF2B5EF4-FFF2-40B4-BE49-F238E27FC236}">
                  <a16:creationId xmlns:a16="http://schemas.microsoft.com/office/drawing/2014/main" id="{29533318-751B-D9B1-98C3-A8AB7F5A3C03}"/>
                </a:ext>
              </a:extLst>
            </p:cNvPr>
            <p:cNvSpPr txBox="1"/>
            <p:nvPr/>
          </p:nvSpPr>
          <p:spPr>
            <a:xfrm>
              <a:off x="7467600" y="1371600"/>
              <a:ext cx="4165600" cy="203200"/>
            </a:xfrm>
            <a:prstGeom prst="rect">
              <a:avLst/>
            </a:prstGeom>
            <a:noFill/>
          </p:spPr>
          <p:txBody>
            <a:bodyPr vert="horz" wrap="square" lIns="0" tIns="0" rIns="0" bIns="0" rtlCol="0" anchor="t">
              <a:noAutofit/>
            </a:bodyPr>
            <a:lstStyle/>
            <a:p>
              <a:r>
                <a:rPr lang="fr-FR" sz="1100" b="1" spc="80">
                  <a:solidFill>
                    <a:srgbClr val="2A78D6"/>
                  </a:solidFill>
                </a:rPr>
                <a:t>CE QUE DIT LE TABLEAU</a:t>
              </a:r>
            </a:p>
          </p:txBody>
        </p:sp>
        <p:sp>
          <p:nvSpPr>
            <p:cNvPr id="7" name="ZoneTexte 6">
              <a:extLst>
                <a:ext uri="{FF2B5EF4-FFF2-40B4-BE49-F238E27FC236}">
                  <a16:creationId xmlns:a16="http://schemas.microsoft.com/office/drawing/2014/main" id="{0F45FEB2-E0D1-CD6B-9682-62B846CB5358}"/>
                </a:ext>
              </a:extLst>
            </p:cNvPr>
            <p:cNvSpPr txBox="1"/>
            <p:nvPr/>
          </p:nvSpPr>
          <p:spPr>
            <a:xfrm>
              <a:off x="7467600" y="1651000"/>
              <a:ext cx="4165600" cy="1422400"/>
            </a:xfrm>
            <a:prstGeom prst="rect">
              <a:avLst/>
            </a:prstGeom>
            <a:noFill/>
          </p:spPr>
          <p:txBody>
            <a:bodyPr vert="horz" wrap="square" lIns="0" tIns="0" rIns="0" bIns="0" rtlCol="0" anchor="t">
              <a:noAutofit/>
            </a:bodyPr>
            <a:lstStyle/>
            <a:p>
              <a:r>
                <a:rPr lang="fr-FR" sz="1400">
                  <a:solidFill>
                    <a:srgbClr val="1A1A19"/>
                  </a:solidFill>
                </a:rPr>
                <a:t>4,2 millions de candidatures pour 153 229 places : en moyenne </a:t>
              </a:r>
              <a:r>
                <a:rPr lang="fr-FR" sz="1400" b="1">
                  <a:solidFill>
                    <a:srgbClr val="12284C"/>
                  </a:solidFill>
                </a:rPr>
                <a:t>27,4 candidatures par place</a:t>
              </a:r>
              <a:r>
                <a:rPr lang="fr-FR" sz="1400">
                  <a:solidFill>
                    <a:srgbClr val="1A1A19"/>
                  </a:solidFill>
                </a:rPr>
                <a:t>. Mais l'écart est énorme : de 10 dans les écoles de travail social (EFTS) à 81 en PASS.</a:t>
              </a:r>
            </a:p>
          </p:txBody>
        </p:sp>
      </p:grpSp>
      <p:sp>
        <p:nvSpPr>
          <p:cNvPr id="9" name="ZoneTexte 8">
            <a:extLst>
              <a:ext uri="{FF2B5EF4-FFF2-40B4-BE49-F238E27FC236}">
                <a16:creationId xmlns:a16="http://schemas.microsoft.com/office/drawing/2014/main" id="{96E099F4-3B62-FA43-F4AF-B14E5FB42E25}"/>
              </a:ext>
            </a:extLst>
          </p:cNvPr>
          <p:cNvSpPr txBox="1"/>
          <p:nvPr/>
        </p:nvSpPr>
        <p:spPr>
          <a:xfrm>
            <a:off x="7467600" y="2946400"/>
            <a:ext cx="4165600" cy="203200"/>
          </a:xfrm>
          <a:prstGeom prst="rect">
            <a:avLst/>
          </a:prstGeom>
          <a:noFill/>
        </p:spPr>
        <p:txBody>
          <a:bodyPr vert="horz" wrap="square" lIns="0" tIns="0" rIns="0" bIns="0" rtlCol="0" anchor="t">
            <a:noAutofit/>
          </a:bodyPr>
          <a:lstStyle/>
          <a:p>
            <a:r>
              <a:rPr lang="fr-FR" sz="1100" b="1" spc="80">
                <a:solidFill>
                  <a:srgbClr val="2A78D6"/>
                </a:solidFill>
              </a:rPr>
              <a:t>ET SELON LA ZONE ? (SECOND TCD)</a:t>
            </a:r>
          </a:p>
        </p:txBody>
      </p:sp>
      <p:grpSp>
        <p:nvGrpSpPr>
          <p:cNvPr id="13" name="Zone 1">
            <a:extLst>
              <a:ext uri="{FF2B5EF4-FFF2-40B4-BE49-F238E27FC236}">
                <a16:creationId xmlns:a16="http://schemas.microsoft.com/office/drawing/2014/main" id="{ED1E23D5-E03D-764E-1341-257BCC0A0CC0}"/>
              </a:ext>
            </a:extLst>
          </p:cNvPr>
          <p:cNvGrpSpPr/>
          <p:nvPr/>
        </p:nvGrpSpPr>
        <p:grpSpPr>
          <a:xfrm>
            <a:off x="7467600" y="3225800"/>
            <a:ext cx="1282700" cy="965200"/>
            <a:chOff x="7467600" y="3225800"/>
            <a:chExt cx="1282700" cy="965200"/>
          </a:xfrm>
        </p:grpSpPr>
        <p:sp>
          <p:nvSpPr>
            <p:cNvPr id="10" name="Rectangle : coins arrondis 9">
              <a:extLst>
                <a:ext uri="{FF2B5EF4-FFF2-40B4-BE49-F238E27FC236}">
                  <a16:creationId xmlns:a16="http://schemas.microsoft.com/office/drawing/2014/main" id="{11E9D1CD-48F9-617D-97BE-3ABCBDE5B232}"/>
                </a:ext>
              </a:extLst>
            </p:cNvPr>
            <p:cNvSpPr/>
            <p:nvPr/>
          </p:nvSpPr>
          <p:spPr>
            <a:xfrm>
              <a:off x="7467600" y="3225800"/>
              <a:ext cx="1282700" cy="965200"/>
            </a:xfrm>
            <a:prstGeom prst="roundRect">
              <a:avLst>
                <a:gd name="adj" fmla="val 10000"/>
              </a:avLst>
            </a:prstGeom>
            <a:solidFill>
              <a:srgbClr val="F1F5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C35B5B59-5678-3278-0634-7529A9435DD6}"/>
                </a:ext>
              </a:extLst>
            </p:cNvPr>
            <p:cNvSpPr txBox="1"/>
            <p:nvPr/>
          </p:nvSpPr>
          <p:spPr>
            <a:xfrm>
              <a:off x="7543800" y="3327400"/>
              <a:ext cx="1130300" cy="381000"/>
            </a:xfrm>
            <a:prstGeom prst="rect">
              <a:avLst/>
            </a:prstGeom>
            <a:noFill/>
          </p:spPr>
          <p:txBody>
            <a:bodyPr vert="horz" wrap="square" lIns="0" tIns="0" rIns="0" bIns="0" rtlCol="0" anchor="t">
              <a:noAutofit/>
            </a:bodyPr>
            <a:lstStyle/>
            <a:p>
              <a:pPr algn="ctr"/>
              <a:r>
                <a:rPr lang="fr-FR" sz="2300" b="1">
                  <a:solidFill>
                    <a:srgbClr val="12284C"/>
                  </a:solidFill>
                </a:rPr>
                <a:t>29,3</a:t>
              </a:r>
            </a:p>
          </p:txBody>
        </p:sp>
        <p:sp>
          <p:nvSpPr>
            <p:cNvPr id="12" name="ZoneTexte 11">
              <a:extLst>
                <a:ext uri="{FF2B5EF4-FFF2-40B4-BE49-F238E27FC236}">
                  <a16:creationId xmlns:a16="http://schemas.microsoft.com/office/drawing/2014/main" id="{0C975088-D8A5-BBE9-41B2-A9C59F94B76B}"/>
                </a:ext>
              </a:extLst>
            </p:cNvPr>
            <p:cNvSpPr txBox="1"/>
            <p:nvPr/>
          </p:nvSpPr>
          <p:spPr>
            <a:xfrm>
              <a:off x="7518400" y="3784600"/>
              <a:ext cx="1181100" cy="355600"/>
            </a:xfrm>
            <a:prstGeom prst="rect">
              <a:avLst/>
            </a:prstGeom>
            <a:noFill/>
          </p:spPr>
          <p:txBody>
            <a:bodyPr vert="horz" wrap="square" lIns="0" tIns="0" rIns="0" bIns="0" rtlCol="0" anchor="t">
              <a:noAutofit/>
            </a:bodyPr>
            <a:lstStyle/>
            <a:p>
              <a:pPr algn="ctr"/>
              <a:r>
                <a:rPr lang="fr-FR" sz="1050">
                  <a:solidFill>
                    <a:srgbClr val="52514E"/>
                  </a:solidFill>
                </a:rPr>
                <a:t>Paris</a:t>
              </a:r>
            </a:p>
          </p:txBody>
        </p:sp>
      </p:grpSp>
      <p:grpSp>
        <p:nvGrpSpPr>
          <p:cNvPr id="17" name="Zone 2">
            <a:extLst>
              <a:ext uri="{FF2B5EF4-FFF2-40B4-BE49-F238E27FC236}">
                <a16:creationId xmlns:a16="http://schemas.microsoft.com/office/drawing/2014/main" id="{89EA718E-318E-70EE-684E-5DDA646B9C53}"/>
              </a:ext>
            </a:extLst>
          </p:cNvPr>
          <p:cNvGrpSpPr/>
          <p:nvPr/>
        </p:nvGrpSpPr>
        <p:grpSpPr>
          <a:xfrm>
            <a:off x="8909050" y="3225800"/>
            <a:ext cx="1282700" cy="965200"/>
            <a:chOff x="8909050" y="3225800"/>
            <a:chExt cx="1282700" cy="965200"/>
          </a:xfrm>
        </p:grpSpPr>
        <p:sp>
          <p:nvSpPr>
            <p:cNvPr id="14" name="Rectangle : coins arrondis 13">
              <a:extLst>
                <a:ext uri="{FF2B5EF4-FFF2-40B4-BE49-F238E27FC236}">
                  <a16:creationId xmlns:a16="http://schemas.microsoft.com/office/drawing/2014/main" id="{6DCAAB82-D030-B4E1-9FCE-90315509EC59}"/>
                </a:ext>
              </a:extLst>
            </p:cNvPr>
            <p:cNvSpPr/>
            <p:nvPr/>
          </p:nvSpPr>
          <p:spPr>
            <a:xfrm>
              <a:off x="8909050" y="3225800"/>
              <a:ext cx="1282700" cy="965200"/>
            </a:xfrm>
            <a:prstGeom prst="roundRect">
              <a:avLst>
                <a:gd name="adj" fmla="val 10000"/>
              </a:avLst>
            </a:prstGeom>
            <a:solidFill>
              <a:srgbClr val="F1F5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F41AF4A3-1DE9-0A43-748B-1DD279A5D924}"/>
                </a:ext>
              </a:extLst>
            </p:cNvPr>
            <p:cNvSpPr txBox="1"/>
            <p:nvPr/>
          </p:nvSpPr>
          <p:spPr>
            <a:xfrm>
              <a:off x="8985250" y="3327400"/>
              <a:ext cx="1130300" cy="381000"/>
            </a:xfrm>
            <a:prstGeom prst="rect">
              <a:avLst/>
            </a:prstGeom>
            <a:noFill/>
          </p:spPr>
          <p:txBody>
            <a:bodyPr vert="horz" wrap="square" lIns="0" tIns="0" rIns="0" bIns="0" rtlCol="0" anchor="t">
              <a:noAutofit/>
            </a:bodyPr>
            <a:lstStyle/>
            <a:p>
              <a:pPr algn="ctr"/>
              <a:r>
                <a:rPr lang="fr-FR" sz="2300" b="1">
                  <a:solidFill>
                    <a:srgbClr val="12284C"/>
                  </a:solidFill>
                </a:rPr>
                <a:t>27,9</a:t>
              </a:r>
            </a:p>
          </p:txBody>
        </p:sp>
        <p:sp>
          <p:nvSpPr>
            <p:cNvPr id="16" name="ZoneTexte 15">
              <a:extLst>
                <a:ext uri="{FF2B5EF4-FFF2-40B4-BE49-F238E27FC236}">
                  <a16:creationId xmlns:a16="http://schemas.microsoft.com/office/drawing/2014/main" id="{E20F431C-8953-3594-F483-18FEF432E535}"/>
                </a:ext>
              </a:extLst>
            </p:cNvPr>
            <p:cNvSpPr txBox="1"/>
            <p:nvPr/>
          </p:nvSpPr>
          <p:spPr>
            <a:xfrm>
              <a:off x="8959850" y="3784600"/>
              <a:ext cx="1181100" cy="355600"/>
            </a:xfrm>
            <a:prstGeom prst="rect">
              <a:avLst/>
            </a:prstGeom>
            <a:noFill/>
          </p:spPr>
          <p:txBody>
            <a:bodyPr vert="horz" wrap="square" lIns="0" tIns="0" rIns="0" bIns="0" rtlCol="0" anchor="t">
              <a:noAutofit/>
            </a:bodyPr>
            <a:lstStyle/>
            <a:p>
              <a:pPr algn="ctr"/>
              <a:r>
                <a:rPr lang="fr-FR" sz="1050">
                  <a:solidFill>
                    <a:srgbClr val="52514E"/>
                  </a:solidFill>
                </a:rPr>
                <a:t>Petite couronne</a:t>
              </a:r>
            </a:p>
          </p:txBody>
        </p:sp>
      </p:grpSp>
      <p:grpSp>
        <p:nvGrpSpPr>
          <p:cNvPr id="21" name="Zone 3">
            <a:extLst>
              <a:ext uri="{FF2B5EF4-FFF2-40B4-BE49-F238E27FC236}">
                <a16:creationId xmlns:a16="http://schemas.microsoft.com/office/drawing/2014/main" id="{EADC6A22-D197-8122-D401-2FE63B16D781}"/>
              </a:ext>
            </a:extLst>
          </p:cNvPr>
          <p:cNvGrpSpPr/>
          <p:nvPr/>
        </p:nvGrpSpPr>
        <p:grpSpPr>
          <a:xfrm>
            <a:off x="10350500" y="3225800"/>
            <a:ext cx="1282700" cy="965200"/>
            <a:chOff x="10350500" y="3225800"/>
            <a:chExt cx="1282700" cy="965200"/>
          </a:xfrm>
        </p:grpSpPr>
        <p:sp>
          <p:nvSpPr>
            <p:cNvPr id="18" name="Rectangle : coins arrondis 17">
              <a:extLst>
                <a:ext uri="{FF2B5EF4-FFF2-40B4-BE49-F238E27FC236}">
                  <a16:creationId xmlns:a16="http://schemas.microsoft.com/office/drawing/2014/main" id="{6824A793-A140-D950-3FCC-99C6E47A319C}"/>
                </a:ext>
              </a:extLst>
            </p:cNvPr>
            <p:cNvSpPr/>
            <p:nvPr/>
          </p:nvSpPr>
          <p:spPr>
            <a:xfrm>
              <a:off x="10350500" y="3225800"/>
              <a:ext cx="1282700" cy="965200"/>
            </a:xfrm>
            <a:prstGeom prst="roundRect">
              <a:avLst>
                <a:gd name="adj" fmla="val 10000"/>
              </a:avLst>
            </a:prstGeom>
            <a:solidFill>
              <a:srgbClr val="F1F5F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1FE090FD-91D8-C371-153F-FFDF4C628AC7}"/>
                </a:ext>
              </a:extLst>
            </p:cNvPr>
            <p:cNvSpPr txBox="1"/>
            <p:nvPr/>
          </p:nvSpPr>
          <p:spPr>
            <a:xfrm>
              <a:off x="10426700" y="3327400"/>
              <a:ext cx="1130300" cy="381000"/>
            </a:xfrm>
            <a:prstGeom prst="rect">
              <a:avLst/>
            </a:prstGeom>
            <a:noFill/>
          </p:spPr>
          <p:txBody>
            <a:bodyPr vert="horz" wrap="square" lIns="0" tIns="0" rIns="0" bIns="0" rtlCol="0" anchor="t">
              <a:noAutofit/>
            </a:bodyPr>
            <a:lstStyle/>
            <a:p>
              <a:pPr algn="ctr"/>
              <a:r>
                <a:rPr lang="fr-FR" sz="2300" b="1">
                  <a:solidFill>
                    <a:srgbClr val="12284C"/>
                  </a:solidFill>
                </a:rPr>
                <a:t>23,5</a:t>
              </a:r>
            </a:p>
          </p:txBody>
        </p:sp>
        <p:sp>
          <p:nvSpPr>
            <p:cNvPr id="20" name="ZoneTexte 19">
              <a:extLst>
                <a:ext uri="{FF2B5EF4-FFF2-40B4-BE49-F238E27FC236}">
                  <a16:creationId xmlns:a16="http://schemas.microsoft.com/office/drawing/2014/main" id="{F6EFAF5A-D3F8-7863-9434-B911C87162B9}"/>
                </a:ext>
              </a:extLst>
            </p:cNvPr>
            <p:cNvSpPr txBox="1"/>
            <p:nvPr/>
          </p:nvSpPr>
          <p:spPr>
            <a:xfrm>
              <a:off x="10401300" y="3784600"/>
              <a:ext cx="1181100" cy="355600"/>
            </a:xfrm>
            <a:prstGeom prst="rect">
              <a:avLst/>
            </a:prstGeom>
            <a:noFill/>
          </p:spPr>
          <p:txBody>
            <a:bodyPr vert="horz" wrap="square" lIns="0" tIns="0" rIns="0" bIns="0" rtlCol="0" anchor="t">
              <a:noAutofit/>
            </a:bodyPr>
            <a:lstStyle/>
            <a:p>
              <a:pPr algn="ctr"/>
              <a:r>
                <a:rPr lang="fr-FR" sz="1050">
                  <a:solidFill>
                    <a:srgbClr val="52514E"/>
                  </a:solidFill>
                </a:rPr>
                <a:t>Grande couronne</a:t>
              </a:r>
            </a:p>
          </p:txBody>
        </p:sp>
      </p:grpSp>
      <p:grpSp>
        <p:nvGrpSpPr>
          <p:cNvPr id="24" name="Controle">
            <a:extLst>
              <a:ext uri="{FF2B5EF4-FFF2-40B4-BE49-F238E27FC236}">
                <a16:creationId xmlns:a16="http://schemas.microsoft.com/office/drawing/2014/main" id="{B2E4B669-EED9-2B16-20BF-7EA778B36CB7}"/>
              </a:ext>
            </a:extLst>
          </p:cNvPr>
          <p:cNvGrpSpPr/>
          <p:nvPr/>
        </p:nvGrpSpPr>
        <p:grpSpPr>
          <a:xfrm>
            <a:off x="7467600" y="4419600"/>
            <a:ext cx="4165600" cy="787400"/>
            <a:chOff x="7467600" y="4419600"/>
            <a:chExt cx="4165600" cy="787400"/>
          </a:xfrm>
        </p:grpSpPr>
        <p:sp>
          <p:nvSpPr>
            <p:cNvPr id="22" name="Rectangle : coins arrondis 21">
              <a:extLst>
                <a:ext uri="{FF2B5EF4-FFF2-40B4-BE49-F238E27FC236}">
                  <a16:creationId xmlns:a16="http://schemas.microsoft.com/office/drawing/2014/main" id="{600648DF-516B-87F4-0911-53976BA82834}"/>
                </a:ext>
              </a:extLst>
            </p:cNvPr>
            <p:cNvSpPr/>
            <p:nvPr/>
          </p:nvSpPr>
          <p:spPr>
            <a:xfrm>
              <a:off x="7467600" y="4419600"/>
              <a:ext cx="4165600" cy="787400"/>
            </a:xfrm>
            <a:prstGeom prst="roundRect">
              <a:avLst>
                <a:gd name="adj" fmla="val 10000"/>
              </a:avLst>
            </a:prstGeom>
            <a:solidFill>
              <a:srgbClr val="FCEF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ZoneTexte 22">
              <a:extLst>
                <a:ext uri="{FF2B5EF4-FFF2-40B4-BE49-F238E27FC236}">
                  <a16:creationId xmlns:a16="http://schemas.microsoft.com/office/drawing/2014/main" id="{A6B72898-CB8E-23D3-5BFA-15A1CFE99749}"/>
                </a:ext>
              </a:extLst>
            </p:cNvPr>
            <p:cNvSpPr txBox="1"/>
            <p:nvPr/>
          </p:nvSpPr>
          <p:spPr>
            <a:xfrm>
              <a:off x="7645400" y="4546600"/>
              <a:ext cx="3810000" cy="558800"/>
            </a:xfrm>
            <a:prstGeom prst="rect">
              <a:avLst/>
            </a:prstGeom>
            <a:noFill/>
          </p:spPr>
          <p:txBody>
            <a:bodyPr vert="horz" wrap="square" lIns="0" tIns="0" rIns="0" bIns="0" rtlCol="0" anchor="t">
              <a:noAutofit/>
            </a:bodyPr>
            <a:lstStyle/>
            <a:p>
              <a:r>
                <a:rPr lang="fr-FR" sz="1150" b="1">
                  <a:solidFill>
                    <a:srgbClr val="B8461A"/>
                  </a:solidFill>
                </a:rPr>
                <a:t>Contrôle : </a:t>
              </a:r>
              <a:r>
                <a:rPr lang="fr-FR" sz="1150">
                  <a:solidFill>
                    <a:srgbClr val="1A1A19"/>
                  </a:solidFill>
                </a:rPr>
                <a:t>les sous-totaux et les formules NB.SI / SOMME.SI redonnent exactement les mêmes totaux.</a:t>
              </a:r>
            </a:p>
          </p:txBody>
        </p:sp>
      </p:grpSp>
      <p:sp>
        <p:nvSpPr>
          <p:cNvPr id="25" name="Espace réservé du pied de page 24">
            <a:extLst>
              <a:ext uri="{FF2B5EF4-FFF2-40B4-BE49-F238E27FC236}">
                <a16:creationId xmlns:a16="http://schemas.microsoft.com/office/drawing/2014/main" id="{DCC8E9DE-2B2B-B771-2C8C-6666D310DFAD}"/>
              </a:ext>
            </a:extLst>
          </p:cNvPr>
          <p:cNvSpPr>
            <a:spLocks noGrp="1"/>
          </p:cNvSpPr>
          <p:nvPr>
            <p:ph type="ftr" sz="quarter" idx="11"/>
          </p:nvPr>
        </p:nvSpPr>
        <p:spPr/>
        <p:txBody>
          <a:bodyPr/>
          <a:lstStyle/>
          <a:p>
            <a:r>
              <a:rPr lang="fr-FR"/>
              <a:t>[NOM Prénom] · [N° étudiant]  —  Parcoursup 2025 en Île-de-France  ·  Année universitaire 2026-2027</a:t>
            </a:r>
          </a:p>
        </p:txBody>
      </p:sp>
      <p:sp>
        <p:nvSpPr>
          <p:cNvPr id="26" name="Espace réservé du numéro de diapositive 25">
            <a:extLst>
              <a:ext uri="{FF2B5EF4-FFF2-40B4-BE49-F238E27FC236}">
                <a16:creationId xmlns:a16="http://schemas.microsoft.com/office/drawing/2014/main" id="{8FB2EBAA-5601-B3CB-A656-485CFDEE205B}"/>
              </a:ext>
            </a:extLst>
          </p:cNvPr>
          <p:cNvSpPr>
            <a:spLocks noGrp="1"/>
          </p:cNvSpPr>
          <p:nvPr>
            <p:ph type="sldNum" sz="quarter" idx="12"/>
          </p:nvPr>
        </p:nvSpPr>
        <p:spPr/>
        <p:txBody>
          <a:bodyPr/>
          <a:lstStyle/>
          <a:p>
            <a:fld id="{36104FB3-7E88-4A46-91BF-2C302A5CE104}" type="slidenum">
              <a:rPr lang="fr-FR" smtClean="0"/>
              <a:t>5</a:t>
            </a:fld>
            <a:endParaRPr lang="fr-FR"/>
          </a:p>
        </p:txBody>
      </p:sp>
    </p:spTree>
    <p:extLst>
      <p:ext uri="{BB962C8B-B14F-4D97-AF65-F5344CB8AC3E}">
        <p14:creationId xmlns:p14="http://schemas.microsoft.com/office/powerpoint/2010/main" val="4207302796"/>
      </p:ext>
    </p:extLst>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4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grpId="0" nodeType="withEffect">
                                  <p:stCondLst>
                                    <p:cond delay="12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nodeType="withEffect">
                                  <p:stCondLst>
                                    <p:cond delay="50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600"/>
                                        <p:tgtEl>
                                          <p:spTgt spid="8"/>
                                        </p:tgtEl>
                                      </p:cBhvr>
                                    </p:animEffect>
                                  </p:childTnLst>
                                </p:cTn>
                              </p:par>
                              <p:par>
                                <p:cTn id="14" presetID="10" presetClass="entr" presetSubtype="0" fill="hold" grpId="0" nodeType="withEffect">
                                  <p:stCondLst>
                                    <p:cond delay="135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600"/>
                                        <p:tgtEl>
                                          <p:spTgt spid="9"/>
                                        </p:tgtEl>
                                      </p:cBhvr>
                                    </p:animEffect>
                                  </p:childTnLst>
                                </p:cTn>
                              </p:par>
                              <p:par>
                                <p:cTn id="17" presetID="47" presetClass="entr" presetSubtype="0" fill="hold" nodeType="withEffect">
                                  <p:stCondLst>
                                    <p:cond delay="1550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600"/>
                                        <p:tgtEl>
                                          <p:spTgt spid="13"/>
                                        </p:tgtEl>
                                      </p:cBhvr>
                                    </p:animEffect>
                                    <p:anim calcmode="lin" valueType="num">
                                      <p:cBhvr>
                                        <p:cTn id="20" dur="600" fill="hold"/>
                                        <p:tgtEl>
                                          <p:spTgt spid="13"/>
                                        </p:tgtEl>
                                        <p:attrNameLst>
                                          <p:attrName>ppt_x</p:attrName>
                                        </p:attrNameLst>
                                      </p:cBhvr>
                                      <p:tavLst>
                                        <p:tav tm="0">
                                          <p:val>
                                            <p:strVal val="#ppt_x"/>
                                          </p:val>
                                        </p:tav>
                                        <p:tav tm="100000">
                                          <p:val>
                                            <p:strVal val="#ppt_x"/>
                                          </p:val>
                                        </p:tav>
                                      </p:tavLst>
                                    </p:anim>
                                    <p:anim calcmode="lin" valueType="num">
                                      <p:cBhvr>
                                        <p:cTn id="21" dur="600" fill="hold"/>
                                        <p:tgtEl>
                                          <p:spTgt spid="13"/>
                                        </p:tgtEl>
                                        <p:attrNameLst>
                                          <p:attrName>ppt_y</p:attrName>
                                        </p:attrNameLst>
                                      </p:cBhvr>
                                      <p:tavLst>
                                        <p:tav tm="0">
                                          <p:val>
                                            <p:strVal val="#ppt_y-.1"/>
                                          </p:val>
                                        </p:tav>
                                        <p:tav tm="100000">
                                          <p:val>
                                            <p:strVal val="#ppt_y"/>
                                          </p:val>
                                        </p:tav>
                                      </p:tavLst>
                                    </p:anim>
                                  </p:childTnLst>
                                </p:cTn>
                              </p:par>
                              <p:par>
                                <p:cTn id="22" presetID="47" presetClass="entr" presetSubtype="0" fill="hold" nodeType="withEffect">
                                  <p:stCondLst>
                                    <p:cond delay="1800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600"/>
                                        <p:tgtEl>
                                          <p:spTgt spid="17"/>
                                        </p:tgtEl>
                                      </p:cBhvr>
                                    </p:animEffect>
                                    <p:anim calcmode="lin" valueType="num">
                                      <p:cBhvr>
                                        <p:cTn id="25" dur="600" fill="hold"/>
                                        <p:tgtEl>
                                          <p:spTgt spid="17"/>
                                        </p:tgtEl>
                                        <p:attrNameLst>
                                          <p:attrName>ppt_x</p:attrName>
                                        </p:attrNameLst>
                                      </p:cBhvr>
                                      <p:tavLst>
                                        <p:tav tm="0">
                                          <p:val>
                                            <p:strVal val="#ppt_x"/>
                                          </p:val>
                                        </p:tav>
                                        <p:tav tm="100000">
                                          <p:val>
                                            <p:strVal val="#ppt_x"/>
                                          </p:val>
                                        </p:tav>
                                      </p:tavLst>
                                    </p:anim>
                                    <p:anim calcmode="lin" valueType="num">
                                      <p:cBhvr>
                                        <p:cTn id="26" dur="600" fill="hold"/>
                                        <p:tgtEl>
                                          <p:spTgt spid="17"/>
                                        </p:tgtEl>
                                        <p:attrNameLst>
                                          <p:attrName>ppt_y</p:attrName>
                                        </p:attrNameLst>
                                      </p:cBhvr>
                                      <p:tavLst>
                                        <p:tav tm="0">
                                          <p:val>
                                            <p:strVal val="#ppt_y-.1"/>
                                          </p:val>
                                        </p:tav>
                                        <p:tav tm="100000">
                                          <p:val>
                                            <p:strVal val="#ppt_y"/>
                                          </p:val>
                                        </p:tav>
                                      </p:tavLst>
                                    </p:anim>
                                  </p:childTnLst>
                                </p:cTn>
                              </p:par>
                              <p:par>
                                <p:cTn id="27" presetID="47" presetClass="entr" presetSubtype="0" fill="hold" nodeType="withEffect">
                                  <p:stCondLst>
                                    <p:cond delay="2050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600"/>
                                        <p:tgtEl>
                                          <p:spTgt spid="21"/>
                                        </p:tgtEl>
                                      </p:cBhvr>
                                    </p:animEffect>
                                    <p:anim calcmode="lin" valueType="num">
                                      <p:cBhvr>
                                        <p:cTn id="30" dur="600" fill="hold"/>
                                        <p:tgtEl>
                                          <p:spTgt spid="21"/>
                                        </p:tgtEl>
                                        <p:attrNameLst>
                                          <p:attrName>ppt_x</p:attrName>
                                        </p:attrNameLst>
                                      </p:cBhvr>
                                      <p:tavLst>
                                        <p:tav tm="0">
                                          <p:val>
                                            <p:strVal val="#ppt_x"/>
                                          </p:val>
                                        </p:tav>
                                        <p:tav tm="100000">
                                          <p:val>
                                            <p:strVal val="#ppt_x"/>
                                          </p:val>
                                        </p:tav>
                                      </p:tavLst>
                                    </p:anim>
                                    <p:anim calcmode="lin" valueType="num">
                                      <p:cBhvr>
                                        <p:cTn id="31" dur="600" fill="hold"/>
                                        <p:tgtEl>
                                          <p:spTgt spid="21"/>
                                        </p:tgtEl>
                                        <p:attrNameLst>
                                          <p:attrName>ppt_y</p:attrName>
                                        </p:attrNameLst>
                                      </p:cBhvr>
                                      <p:tavLst>
                                        <p:tav tm="0">
                                          <p:val>
                                            <p:strVal val="#ppt_y-.1"/>
                                          </p:val>
                                        </p:tav>
                                        <p:tav tm="100000">
                                          <p:val>
                                            <p:strVal val="#ppt_y"/>
                                          </p:val>
                                        </p:tav>
                                      </p:tavLst>
                                    </p:anim>
                                  </p:childTnLst>
                                </p:cTn>
                              </p:par>
                              <p:par>
                                <p:cTn id="32" presetID="10" presetClass="entr" presetSubtype="0" fill="hold" nodeType="withEffect">
                                  <p:stCondLst>
                                    <p:cond delay="2500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6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8EC72D-A513-ADD1-FE08-CED7CD2480D5}"/>
              </a:ext>
            </a:extLst>
          </p:cNvPr>
          <p:cNvSpPr>
            <a:spLocks noGrp="1"/>
          </p:cNvSpPr>
          <p:nvPr>
            <p:ph type="title"/>
          </p:nvPr>
        </p:nvSpPr>
        <p:spPr/>
        <p:txBody>
          <a:bodyPr/>
          <a:lstStyle/>
          <a:p>
            <a:r>
              <a:rPr lang="fr-FR"/>
              <a:t>Réponse : les filières de santé sont les plus disputées</a:t>
            </a:r>
          </a:p>
        </p:txBody>
      </p:sp>
      <p:graphicFrame>
        <p:nvGraphicFramePr>
          <p:cNvPr id="3" name="Graphique des filieres" descr="Graphique en barres : candidatures par place selon la filière en Île-de-France. PASS 81,1 ; IFSI 58,4 ; BUT 40,9 ; Licence L.AS 40,8 ; CPGE 38,6 ; BTS 28,9 ; école d'ingénieur 26,4 ; école de commerce 20,8 ; autre formation 20,2 ; licence 17,5 ; EFTS 10,4.">
            <a:extLst>
              <a:ext uri="{FF2B5EF4-FFF2-40B4-BE49-F238E27FC236}">
                <a16:creationId xmlns:a16="http://schemas.microsoft.com/office/drawing/2014/main" id="{8868D9DC-6082-04A8-6883-6864FF5C2501}"/>
              </a:ext>
            </a:extLst>
          </p:cNvPr>
          <p:cNvGraphicFramePr/>
          <p:nvPr>
            <p:extLst>
              <p:ext uri="{D42A27DB-BD31-4B8C-83A1-F6EECF244321}">
                <p14:modId xmlns:p14="http://schemas.microsoft.com/office/powerpoint/2010/main" val="582417262"/>
              </p:ext>
            </p:extLst>
          </p:nvPr>
        </p:nvGraphicFramePr>
        <p:xfrm>
          <a:off x="558800" y="1244600"/>
          <a:ext cx="7493000" cy="4927600"/>
        </p:xfrm>
        <a:graphic>
          <a:graphicData uri="http://schemas.openxmlformats.org/drawingml/2006/chart">
            <c:chart xmlns:c="http://schemas.openxmlformats.org/drawingml/2006/chart" xmlns:r="http://schemas.openxmlformats.org/officeDocument/2006/relationships" r:id="rId3"/>
          </a:graphicData>
        </a:graphic>
      </p:graphicFrame>
      <p:sp>
        <p:nvSpPr>
          <p:cNvPr id="4" name="ZoneTexte 3">
            <a:extLst>
              <a:ext uri="{FF2B5EF4-FFF2-40B4-BE49-F238E27FC236}">
                <a16:creationId xmlns:a16="http://schemas.microsoft.com/office/drawing/2014/main" id="{7D13A63D-6B7A-6252-8E53-B667959F7BFF}"/>
              </a:ext>
            </a:extLst>
          </p:cNvPr>
          <p:cNvSpPr txBox="1"/>
          <p:nvPr/>
        </p:nvSpPr>
        <p:spPr>
          <a:xfrm>
            <a:off x="8356600" y="1371600"/>
            <a:ext cx="3276600" cy="203200"/>
          </a:xfrm>
          <a:prstGeom prst="rect">
            <a:avLst/>
          </a:prstGeom>
          <a:noFill/>
        </p:spPr>
        <p:txBody>
          <a:bodyPr vert="horz" wrap="square" lIns="0" tIns="0" rIns="0" bIns="0" rtlCol="0" anchor="t">
            <a:noAutofit/>
          </a:bodyPr>
          <a:lstStyle/>
          <a:p>
            <a:r>
              <a:rPr lang="fr-FR" sz="1100" b="1" spc="80">
                <a:solidFill>
                  <a:srgbClr val="2A78D6"/>
                </a:solidFill>
              </a:rPr>
              <a:t>À RETENIR</a:t>
            </a:r>
          </a:p>
        </p:txBody>
      </p:sp>
      <p:grpSp>
        <p:nvGrpSpPr>
          <p:cNvPr id="7" name="A retenir 1">
            <a:extLst>
              <a:ext uri="{FF2B5EF4-FFF2-40B4-BE49-F238E27FC236}">
                <a16:creationId xmlns:a16="http://schemas.microsoft.com/office/drawing/2014/main" id="{B2EBF4D5-DE28-7763-0AC4-40F902BBC7B6}"/>
              </a:ext>
            </a:extLst>
          </p:cNvPr>
          <p:cNvGrpSpPr/>
          <p:nvPr/>
        </p:nvGrpSpPr>
        <p:grpSpPr>
          <a:xfrm>
            <a:off x="8356600" y="1701800"/>
            <a:ext cx="3276600" cy="901700"/>
            <a:chOff x="8356600" y="1701800"/>
            <a:chExt cx="3276600" cy="901700"/>
          </a:xfrm>
        </p:grpSpPr>
        <p:sp>
          <p:nvSpPr>
            <p:cNvPr id="5" name="Ellipse 4">
              <a:extLst>
                <a:ext uri="{FF2B5EF4-FFF2-40B4-BE49-F238E27FC236}">
                  <a16:creationId xmlns:a16="http://schemas.microsoft.com/office/drawing/2014/main" id="{D324FB47-2EAC-F4BE-C58E-D2F7F4F52464}"/>
                </a:ext>
              </a:extLst>
            </p:cNvPr>
            <p:cNvSpPr/>
            <p:nvPr/>
          </p:nvSpPr>
          <p:spPr>
            <a:xfrm>
              <a:off x="8356600" y="1701800"/>
              <a:ext cx="330200" cy="330200"/>
            </a:xfrm>
            <a:prstGeom prst="ellipse">
              <a:avLst/>
            </a:prstGeom>
            <a:solidFill>
              <a:srgbClr val="12284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200" b="1">
                  <a:solidFill>
                    <a:srgbClr val="FFFFFF"/>
                  </a:solidFill>
                </a:rPr>
                <a:t>1</a:t>
              </a:r>
            </a:p>
          </p:txBody>
        </p:sp>
        <p:sp>
          <p:nvSpPr>
            <p:cNvPr id="6" name="ZoneTexte 5">
              <a:extLst>
                <a:ext uri="{FF2B5EF4-FFF2-40B4-BE49-F238E27FC236}">
                  <a16:creationId xmlns:a16="http://schemas.microsoft.com/office/drawing/2014/main" id="{77FBA17C-E58A-4D56-FF87-6A0423A6DECA}"/>
                </a:ext>
              </a:extLst>
            </p:cNvPr>
            <p:cNvSpPr txBox="1"/>
            <p:nvPr/>
          </p:nvSpPr>
          <p:spPr>
            <a:xfrm>
              <a:off x="8813800" y="1714500"/>
              <a:ext cx="2819400" cy="889000"/>
            </a:xfrm>
            <a:prstGeom prst="rect">
              <a:avLst/>
            </a:prstGeom>
            <a:noFill/>
          </p:spPr>
          <p:txBody>
            <a:bodyPr vert="horz" wrap="square" lIns="0" tIns="0" rIns="0" bIns="0" rtlCol="0" anchor="t">
              <a:noAutofit/>
            </a:bodyPr>
            <a:lstStyle/>
            <a:p>
              <a:r>
                <a:rPr lang="fr-FR" sz="1350" b="1">
                  <a:solidFill>
                    <a:srgbClr val="12284C"/>
                  </a:solidFill>
                </a:rPr>
                <a:t>La santé loin devant. </a:t>
              </a:r>
              <a:r>
                <a:rPr lang="fr-FR" sz="1350">
                  <a:solidFill>
                    <a:srgbClr val="1A1A19"/>
                  </a:solidFill>
                </a:rPr>
                <a:t>81 candidatures par place en PASS, 58 en IFSI.</a:t>
              </a:r>
            </a:p>
          </p:txBody>
        </p:sp>
      </p:grpSp>
      <p:grpSp>
        <p:nvGrpSpPr>
          <p:cNvPr id="10" name="A retenir 2">
            <a:extLst>
              <a:ext uri="{FF2B5EF4-FFF2-40B4-BE49-F238E27FC236}">
                <a16:creationId xmlns:a16="http://schemas.microsoft.com/office/drawing/2014/main" id="{365ED6E9-77B2-FDA1-ECEB-5DAE566FA7E3}"/>
              </a:ext>
            </a:extLst>
          </p:cNvPr>
          <p:cNvGrpSpPr/>
          <p:nvPr/>
        </p:nvGrpSpPr>
        <p:grpSpPr>
          <a:xfrm>
            <a:off x="8356600" y="2717800"/>
            <a:ext cx="3276600" cy="901700"/>
            <a:chOff x="8356600" y="2717800"/>
            <a:chExt cx="3276600" cy="901700"/>
          </a:xfrm>
        </p:grpSpPr>
        <p:sp>
          <p:nvSpPr>
            <p:cNvPr id="8" name="Ellipse 7">
              <a:extLst>
                <a:ext uri="{FF2B5EF4-FFF2-40B4-BE49-F238E27FC236}">
                  <a16:creationId xmlns:a16="http://schemas.microsoft.com/office/drawing/2014/main" id="{D263F28A-9996-F1BE-C42E-9AB7DB9084F1}"/>
                </a:ext>
              </a:extLst>
            </p:cNvPr>
            <p:cNvSpPr/>
            <p:nvPr/>
          </p:nvSpPr>
          <p:spPr>
            <a:xfrm>
              <a:off x="8356600" y="2717800"/>
              <a:ext cx="330200" cy="330200"/>
            </a:xfrm>
            <a:prstGeom prst="ellipse">
              <a:avLst/>
            </a:prstGeom>
            <a:solidFill>
              <a:srgbClr val="C850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200" b="1">
                  <a:solidFill>
                    <a:srgbClr val="FFFFFF"/>
                  </a:solidFill>
                </a:rPr>
                <a:t>2</a:t>
              </a:r>
            </a:p>
          </p:txBody>
        </p:sp>
        <p:sp>
          <p:nvSpPr>
            <p:cNvPr id="9" name="ZoneTexte 8">
              <a:extLst>
                <a:ext uri="{FF2B5EF4-FFF2-40B4-BE49-F238E27FC236}">
                  <a16:creationId xmlns:a16="http://schemas.microsoft.com/office/drawing/2014/main" id="{A634512A-148B-C0EA-C537-C86F0862A1BC}"/>
                </a:ext>
              </a:extLst>
            </p:cNvPr>
            <p:cNvSpPr txBox="1"/>
            <p:nvPr/>
          </p:nvSpPr>
          <p:spPr>
            <a:xfrm>
              <a:off x="8813800" y="2730500"/>
              <a:ext cx="2819400" cy="889000"/>
            </a:xfrm>
            <a:prstGeom prst="rect">
              <a:avLst/>
            </a:prstGeom>
            <a:noFill/>
          </p:spPr>
          <p:txBody>
            <a:bodyPr vert="horz" wrap="square" lIns="0" tIns="0" rIns="0" bIns="0" rtlCol="0" anchor="t">
              <a:noAutofit/>
            </a:bodyPr>
            <a:lstStyle/>
            <a:p>
              <a:r>
                <a:rPr lang="fr-FR" sz="1350" b="1">
                  <a:solidFill>
                    <a:srgbClr val="12284C"/>
                  </a:solidFill>
                </a:rPr>
                <a:t>La licence, peu tendue. </a:t>
              </a:r>
              <a:r>
                <a:rPr lang="fr-FR" sz="1350">
                  <a:solidFill>
                    <a:srgbClr val="1A1A19"/>
                  </a:solidFill>
                </a:rPr>
                <a:t>Elle offre 4 places sur 10 et ne reçoit que 17,5 candidatures par place.</a:t>
              </a:r>
            </a:p>
          </p:txBody>
        </p:sp>
      </p:grpSp>
      <p:grpSp>
        <p:nvGrpSpPr>
          <p:cNvPr id="13" name="A retenir 3">
            <a:extLst>
              <a:ext uri="{FF2B5EF4-FFF2-40B4-BE49-F238E27FC236}">
                <a16:creationId xmlns:a16="http://schemas.microsoft.com/office/drawing/2014/main" id="{2B895060-53BC-6859-02DE-D8EC2686965A}"/>
              </a:ext>
            </a:extLst>
          </p:cNvPr>
          <p:cNvGrpSpPr/>
          <p:nvPr/>
        </p:nvGrpSpPr>
        <p:grpSpPr>
          <a:xfrm>
            <a:off x="8356600" y="3733800"/>
            <a:ext cx="3276600" cy="901700"/>
            <a:chOff x="8356600" y="3733800"/>
            <a:chExt cx="3276600" cy="901700"/>
          </a:xfrm>
        </p:grpSpPr>
        <p:sp>
          <p:nvSpPr>
            <p:cNvPr id="11" name="Ellipse 10">
              <a:extLst>
                <a:ext uri="{FF2B5EF4-FFF2-40B4-BE49-F238E27FC236}">
                  <a16:creationId xmlns:a16="http://schemas.microsoft.com/office/drawing/2014/main" id="{4D891958-5E93-620C-1D33-76E2F75B568E}"/>
                </a:ext>
              </a:extLst>
            </p:cNvPr>
            <p:cNvSpPr/>
            <p:nvPr/>
          </p:nvSpPr>
          <p:spPr>
            <a:xfrm>
              <a:off x="8356600" y="3733800"/>
              <a:ext cx="330200" cy="330200"/>
            </a:xfrm>
            <a:prstGeom prst="ellipse">
              <a:avLst/>
            </a:prstGeom>
            <a:solidFill>
              <a:srgbClr val="12284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200" b="1">
                  <a:solidFill>
                    <a:srgbClr val="FFFFFF"/>
                  </a:solidFill>
                </a:rPr>
                <a:t>3</a:t>
              </a:r>
            </a:p>
          </p:txBody>
        </p:sp>
        <p:sp>
          <p:nvSpPr>
            <p:cNvPr id="12" name="ZoneTexte 11">
              <a:extLst>
                <a:ext uri="{FF2B5EF4-FFF2-40B4-BE49-F238E27FC236}">
                  <a16:creationId xmlns:a16="http://schemas.microsoft.com/office/drawing/2014/main" id="{A43B065E-954A-9F5B-05C0-C643BF2E0CB6}"/>
                </a:ext>
              </a:extLst>
            </p:cNvPr>
            <p:cNvSpPr txBox="1"/>
            <p:nvPr/>
          </p:nvSpPr>
          <p:spPr>
            <a:xfrm>
              <a:off x="8813800" y="3746500"/>
              <a:ext cx="2819400" cy="889000"/>
            </a:xfrm>
            <a:prstGeom prst="rect">
              <a:avLst/>
            </a:prstGeom>
            <a:noFill/>
          </p:spPr>
          <p:txBody>
            <a:bodyPr vert="horz" wrap="square" lIns="0" tIns="0" rIns="0" bIns="0" rtlCol="0" anchor="t">
              <a:noAutofit/>
            </a:bodyPr>
            <a:lstStyle/>
            <a:p>
              <a:r>
                <a:rPr lang="fr-FR" sz="1350" b="1">
                  <a:solidFill>
                    <a:srgbClr val="12284C"/>
                  </a:solidFill>
                </a:rPr>
                <a:t>Paris devant la banlieue. </a:t>
              </a:r>
              <a:r>
                <a:rPr lang="fr-FR" sz="1350">
                  <a:solidFill>
                    <a:srgbClr val="1A1A19"/>
                  </a:solidFill>
                </a:rPr>
                <a:t>29,3 à Paris contre 23,5 en grande couronne.</a:t>
              </a:r>
            </a:p>
          </p:txBody>
        </p:sp>
      </p:grpSp>
      <p:grpSp>
        <p:nvGrpSpPr>
          <p:cNvPr id="16" name="Nuance">
            <a:extLst>
              <a:ext uri="{FF2B5EF4-FFF2-40B4-BE49-F238E27FC236}">
                <a16:creationId xmlns:a16="http://schemas.microsoft.com/office/drawing/2014/main" id="{99FAC669-D0CC-A982-AD13-BE6810590F1D}"/>
              </a:ext>
            </a:extLst>
          </p:cNvPr>
          <p:cNvGrpSpPr/>
          <p:nvPr/>
        </p:nvGrpSpPr>
        <p:grpSpPr>
          <a:xfrm>
            <a:off x="8356600" y="4800600"/>
            <a:ext cx="3276600" cy="838200"/>
            <a:chOff x="8356600" y="4800600"/>
            <a:chExt cx="3276600" cy="838200"/>
          </a:xfrm>
        </p:grpSpPr>
        <p:sp>
          <p:nvSpPr>
            <p:cNvPr id="14" name="Rectangle : coins arrondis 13">
              <a:extLst>
                <a:ext uri="{FF2B5EF4-FFF2-40B4-BE49-F238E27FC236}">
                  <a16:creationId xmlns:a16="http://schemas.microsoft.com/office/drawing/2014/main" id="{BEF354CD-D08E-3227-3A5D-C69155FFD9CA}"/>
                </a:ext>
              </a:extLst>
            </p:cNvPr>
            <p:cNvSpPr/>
            <p:nvPr/>
          </p:nvSpPr>
          <p:spPr>
            <a:xfrm>
              <a:off x="8356600" y="4800600"/>
              <a:ext cx="3276600" cy="838200"/>
            </a:xfrm>
            <a:prstGeom prst="roundRect">
              <a:avLst>
                <a:gd name="adj" fmla="val 10000"/>
              </a:avLst>
            </a:prstGeom>
            <a:solidFill>
              <a:srgbClr val="FCEFE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47B1071F-9444-8369-355E-FF97B7C1834B}"/>
                </a:ext>
              </a:extLst>
            </p:cNvPr>
            <p:cNvSpPr txBox="1"/>
            <p:nvPr/>
          </p:nvSpPr>
          <p:spPr>
            <a:xfrm>
              <a:off x="8509000" y="4902200"/>
              <a:ext cx="2971800" cy="685800"/>
            </a:xfrm>
            <a:prstGeom prst="rect">
              <a:avLst/>
            </a:prstGeom>
            <a:noFill/>
          </p:spPr>
          <p:txBody>
            <a:bodyPr vert="horz" wrap="square" lIns="0" tIns="0" rIns="0" bIns="0" rtlCol="0" anchor="t">
              <a:noAutofit/>
            </a:bodyPr>
            <a:lstStyle/>
            <a:p>
              <a:r>
                <a:rPr lang="fr-FR" sz="1150" b="1">
                  <a:solidFill>
                    <a:srgbClr val="B8461A"/>
                  </a:solidFill>
                </a:rPr>
                <a:t>À nuancer : </a:t>
              </a:r>
              <a:r>
                <a:rPr lang="fr-FR" sz="1150">
                  <a:solidFill>
                    <a:srgbClr val="1A1A19"/>
                  </a:solidFill>
                </a:rPr>
                <a:t>un candidat formule plusieurs vœux. Le ratio mesure l'attractivité, pas la chance d'être admis.</a:t>
              </a:r>
            </a:p>
          </p:txBody>
        </p:sp>
      </p:grpSp>
      <p:sp>
        <p:nvSpPr>
          <p:cNvPr id="17" name="ZoneTexte 16">
            <a:extLst>
              <a:ext uri="{FF2B5EF4-FFF2-40B4-BE49-F238E27FC236}">
                <a16:creationId xmlns:a16="http://schemas.microsoft.com/office/drawing/2014/main" id="{E1C69DE7-69AA-9DF5-89F3-E06EE0F0CC67}"/>
              </a:ext>
            </a:extLst>
          </p:cNvPr>
          <p:cNvSpPr txBox="1"/>
          <p:nvPr/>
        </p:nvSpPr>
        <p:spPr>
          <a:xfrm>
            <a:off x="8356600" y="5765800"/>
            <a:ext cx="3276600" cy="381000"/>
          </a:xfrm>
          <a:prstGeom prst="rect">
            <a:avLst/>
          </a:prstGeom>
          <a:noFill/>
        </p:spPr>
        <p:txBody>
          <a:bodyPr vert="horz" wrap="square" lIns="0" tIns="0" rIns="0" bIns="0" rtlCol="0" anchor="t">
            <a:noAutofit/>
          </a:bodyPr>
          <a:lstStyle/>
          <a:p>
            <a:r>
              <a:rPr lang="fr-FR" sz="950">
                <a:solidFill>
                  <a:srgbClr val="52514E"/>
                </a:solidFill>
              </a:rPr>
              <a:t>Source : Parcoursup 2025, MESR-SIES (données ouvertes). Calculs : [P. Nom].</a:t>
            </a:r>
          </a:p>
        </p:txBody>
      </p:sp>
      <p:sp>
        <p:nvSpPr>
          <p:cNvPr id="18" name="Espace réservé du pied de page 17">
            <a:extLst>
              <a:ext uri="{FF2B5EF4-FFF2-40B4-BE49-F238E27FC236}">
                <a16:creationId xmlns:a16="http://schemas.microsoft.com/office/drawing/2014/main" id="{882A23F2-1A6B-FB5F-4FE2-73791E00F0AE}"/>
              </a:ext>
            </a:extLst>
          </p:cNvPr>
          <p:cNvSpPr>
            <a:spLocks noGrp="1"/>
          </p:cNvSpPr>
          <p:nvPr>
            <p:ph type="ftr" sz="quarter" idx="11"/>
          </p:nvPr>
        </p:nvSpPr>
        <p:spPr/>
        <p:txBody>
          <a:bodyPr/>
          <a:lstStyle/>
          <a:p>
            <a:r>
              <a:rPr lang="fr-FR"/>
              <a:t>[NOM Prénom] · [N° étudiant]  —  Parcoursup 2025 en Île-de-France  ·  Année universitaire 2026-2027</a:t>
            </a:r>
          </a:p>
        </p:txBody>
      </p:sp>
      <p:sp>
        <p:nvSpPr>
          <p:cNvPr id="19" name="Espace réservé du numéro de diapositive 18">
            <a:extLst>
              <a:ext uri="{FF2B5EF4-FFF2-40B4-BE49-F238E27FC236}">
                <a16:creationId xmlns:a16="http://schemas.microsoft.com/office/drawing/2014/main" id="{7F8D0993-4FFC-E9EE-B332-F34A40DBD0CA}"/>
              </a:ext>
            </a:extLst>
          </p:cNvPr>
          <p:cNvSpPr>
            <a:spLocks noGrp="1"/>
          </p:cNvSpPr>
          <p:nvPr>
            <p:ph type="sldNum" sz="quarter" idx="12"/>
          </p:nvPr>
        </p:nvSpPr>
        <p:spPr/>
        <p:txBody>
          <a:bodyPr/>
          <a:lstStyle/>
          <a:p>
            <a:fld id="{36104FB3-7E88-4A46-91BF-2C302A5CE104}" type="slidenum">
              <a:rPr lang="fr-FR" smtClean="0"/>
              <a:t>6</a:t>
            </a:fld>
            <a:endParaRPr lang="fr-FR"/>
          </a:p>
        </p:txBody>
      </p:sp>
    </p:spTree>
    <p:extLst>
      <p:ext uri="{BB962C8B-B14F-4D97-AF65-F5344CB8AC3E}">
        <p14:creationId xmlns:p14="http://schemas.microsoft.com/office/powerpoint/2010/main" val="1351212379"/>
      </p:ext>
    </p:extLst>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40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10" presetClass="entr" presetSubtype="0" fill="hold" nodeType="withEffect">
                                  <p:stCondLst>
                                    <p:cond delay="400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00"/>
                                        <p:tgtEl>
                                          <p:spTgt spid="7"/>
                                        </p:tgtEl>
                                      </p:cBhvr>
                                    </p:animEffect>
                                  </p:childTnLst>
                                </p:cTn>
                              </p:par>
                              <p:par>
                                <p:cTn id="11" presetID="10" presetClass="entr" presetSubtype="0" fill="hold" nodeType="withEffect">
                                  <p:stCondLst>
                                    <p:cond delay="1300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600"/>
                                        <p:tgtEl>
                                          <p:spTgt spid="10"/>
                                        </p:tgtEl>
                                      </p:cBhvr>
                                    </p:animEffect>
                                  </p:childTnLst>
                                </p:cTn>
                              </p:par>
                              <p:par>
                                <p:cTn id="14" presetID="10" presetClass="entr" presetSubtype="0" fill="hold" nodeType="withEffect">
                                  <p:stCondLst>
                                    <p:cond delay="1900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600"/>
                                        <p:tgtEl>
                                          <p:spTgt spid="13"/>
                                        </p:tgtEl>
                                      </p:cBhvr>
                                    </p:animEffect>
                                  </p:childTnLst>
                                </p:cTn>
                              </p:par>
                              <p:par>
                                <p:cTn id="17" presetID="47" presetClass="entr" presetSubtype="0" fill="hold" nodeType="withEffect">
                                  <p:stCondLst>
                                    <p:cond delay="2350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600"/>
                                        <p:tgtEl>
                                          <p:spTgt spid="16"/>
                                        </p:tgtEl>
                                      </p:cBhvr>
                                    </p:animEffect>
                                    <p:anim calcmode="lin" valueType="num">
                                      <p:cBhvr>
                                        <p:cTn id="20" dur="600" fill="hold"/>
                                        <p:tgtEl>
                                          <p:spTgt spid="16"/>
                                        </p:tgtEl>
                                        <p:attrNameLst>
                                          <p:attrName>ppt_x</p:attrName>
                                        </p:attrNameLst>
                                      </p:cBhvr>
                                      <p:tavLst>
                                        <p:tav tm="0">
                                          <p:val>
                                            <p:strVal val="#ppt_x"/>
                                          </p:val>
                                        </p:tav>
                                        <p:tav tm="100000">
                                          <p:val>
                                            <p:strVal val="#ppt_x"/>
                                          </p:val>
                                        </p:tav>
                                      </p:tavLst>
                                    </p:anim>
                                    <p:anim calcmode="lin" valueType="num">
                                      <p:cBhvr>
                                        <p:cTn id="21" dur="6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theme/theme1.xml><?xml version="1.0" encoding="utf-8"?>
<a:theme xmlns:a="http://schemas.openxmlformats.org/drawingml/2006/main" name="Thème Office">
  <a:themeElements>
    <a:clrScheme name="Office">
      <a:dk1>
        <a:srgbClr val="1A1A19"/>
      </a:dk1>
      <a:lt1>
        <a:srgbClr val="FFFFFF"/>
      </a:lt1>
      <a:dk2>
        <a:srgbClr val="12284C"/>
      </a:dk2>
      <a:lt2>
        <a:srgbClr val="F1F5FB"/>
      </a:lt2>
      <a:accent1>
        <a:srgbClr val="2A78D6"/>
      </a:accent1>
      <a:accent2>
        <a:srgbClr val="EB6834"/>
      </a:accent2>
      <a:accent3>
        <a:srgbClr val="1BAF7A"/>
      </a:accent3>
      <a:accent4>
        <a:srgbClr val="EDA100"/>
      </a:accent4>
      <a:accent5>
        <a:srgbClr val="6250D6"/>
      </a:accent5>
      <a:accent6>
        <a:srgbClr val="898781"/>
      </a:accent6>
      <a:hlink>
        <a:srgbClr val="2A78D6"/>
      </a:hlink>
      <a:folHlink>
        <a:srgbClr val="6250D6"/>
      </a:folHlink>
    </a:clrScheme>
    <a:fontScheme name="Office">
      <a:majorFont>
        <a:latin typeface="Calibri"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1142</Words>
  <Application>Microsoft Office PowerPoint</Application>
  <PresentationFormat>Grand écran</PresentationFormat>
  <Paragraphs>95</Paragraphs>
  <Slides>6</Slides>
  <Notes>6</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6</vt:i4>
      </vt:variant>
    </vt:vector>
  </HeadingPairs>
  <TitlesOfParts>
    <vt:vector size="9" baseType="lpstr">
      <vt:lpstr>Arial</vt:lpstr>
      <vt:lpstr>Calibri</vt:lpstr>
      <vt:lpstr>Thème Office</vt:lpstr>
      <vt:lpstr>Parcoursup 2025 en Île-de-France Où la concurrence est-elle la plus forte ?</vt:lpstr>
      <vt:lpstr>Problématique et démarche</vt:lpstr>
      <vt:lpstr>Les données</vt:lpstr>
      <vt:lpstr>Tri et filtre : le cas de mon université</vt:lpstr>
      <vt:lpstr>Le tableau de synthèse</vt:lpstr>
      <vt:lpstr>Réponse : les filières de santé sont les plus disputées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Parcoursup 2025 en Île-de-France : où la concurrence est-elle la plus forte ?</dc:title>
  <dc:creator>[NOM Prénom]</dc:creator>
  <cp:lastModifiedBy>[NOM Prénom]</cp:lastModifiedBy>
  <cp:revision>1</cp:revision>
  <dcterms:created xsi:type="dcterms:W3CDTF">2026-10-12T20:45:45Z</dcterms:created>
  <dcterms:modified xsi:type="dcterms:W3CDTF">2026-10-12T20:45:46Z</dcterms:modified>
  <dc:subject>Projet multimédia — [N° étudiant]</dc:subject>
</cp:coreProperties>
</file>